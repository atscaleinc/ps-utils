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Patrick Tool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30T15:01:30.214">
    <p:pos x="264" y="466"/>
    <p:text>I think we need an introduction slide; for example, "what is the purpose of automating this workflow?" (get 70% of the way there during implementations, help promote coding styles and standards, etc)</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Track 2 of 4: SML Creation and Manipulation</a:t>
            </a:r>
            <a:br>
              <a:rPr lang="en-US"/>
            </a:br>
            <a:br>
              <a:rPr lang="en-US"/>
            </a:br>
            <a:r>
              <a:rPr lang="en-US"/>
              <a:t>SML (Semantic Modeling Language) is the YAML-based format AtScale uses to define semantic models.</a:t>
            </a:r>
            <a:br>
              <a:rPr lang="en-US"/>
            </a:br>
            <a:br>
              <a:rPr lang="en-US"/>
            </a:br>
            <a:r>
              <a:rPr lang="en-US"/>
              <a:t>Six operations covered:</a:t>
            </a:r>
            <a:br>
              <a:rPr lang="en-US"/>
            </a:br>
            <a:r>
              <a:rPr lang="en-US"/>
              <a:t>- extract-ddl-from-connection: pull CREATE TABLE DDL from a live database</a:t>
            </a:r>
            <a:br>
              <a:rPr lang="en-US"/>
            </a:br>
            <a:r>
              <a:rPr lang="en-US"/>
              <a:t>- generate-ddl-from-atscale: export DDL from an existing AtScale instance</a:t>
            </a:r>
            <a:br>
              <a:rPr lang="en-US"/>
            </a:br>
            <a:r>
              <a:rPr lang="en-US"/>
              <a:t>- generate-sml-from-ddl: generate SML offline from a DDL file (no live DB, CI-friendly)</a:t>
            </a:r>
            <a:br>
              <a:rPr lang="en-US"/>
            </a:br>
            <a:r>
              <a:rPr lang="en-US"/>
              <a:t>- generate-sml-from-connection: generate SML directly from a live connection (adds data sampling)</a:t>
            </a:r>
            <a:br>
              <a:rPr lang="en-US"/>
            </a:br>
            <a:r>
              <a:rPr lang="en-US"/>
              <a:t>- execute-sql-on-connection: run ad-hoc SQL for exploration or validation</a:t>
            </a:r>
            <a:br>
              <a:rPr lang="en-US"/>
            </a:br>
            <a:r>
              <a:rPr lang="en-US"/>
              <a:t>- generate-metrics-from-model: score every metric x dimension pair in a model.yaml and produce a ranked list</a:t>
            </a:r>
            <a:br>
              <a:rPr lang="en-US"/>
            </a:br>
            <a:br>
              <a:rPr lang="en-US"/>
            </a:br>
            <a:r>
              <a:rPr lang="en-US"/>
              <a:t>Three paths: file-based (offline/CI), live connection (data sampling), and metrics analysis (post-extraction insight discovery).</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dc6cce9652_1_89:notes"/>
          <p:cNvSpPr/>
          <p:nvPr>
            <p:ph idx="2" type="sldImg"/>
          </p:nvPr>
        </p:nvSpPr>
        <p:spPr>
          <a:xfrm>
            <a:off x="51435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g3dc6cce9652_1_89:notes"/>
          <p:cNvSpPr txBox="1"/>
          <p:nvPr>
            <p:ph idx="1" type="body"/>
          </p:nvPr>
        </p:nvSpPr>
        <p:spPr>
          <a:xfrm>
            <a:off x="514350" y="3300413"/>
            <a:ext cx="4114800" cy="27006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None/>
            </a:pPr>
            <a:r>
              <a:rPr lang="en-US"/>
              <a:t>Before we get into the individual commands, let's talk about why this exists.</a:t>
            </a:r>
            <a:br>
              <a:rPr lang="en-US"/>
            </a:br>
            <a:br>
              <a:rPr lang="en-US"/>
            </a:br>
            <a:r>
              <a:rPr lang="en-US"/>
              <a:t>When you're onboarding a new customer, one of the biggest time sinks is the semantic modeling work. You're connecting to their database, manually reading through dozens of tables, deciding what's a fact vs. a dimension, mapping relationships, setting up naming conventions. That can easily take days, and every engineer does it a little differently.</a:t>
            </a:r>
            <a:br>
              <a:rPr lang="en-US"/>
            </a:br>
            <a:br>
              <a:rPr lang="en-US"/>
            </a:br>
            <a:r>
              <a:rPr lang="en-US"/>
              <a:t>The PS Utils CLI automates that entire process. You point it at a live database or a DDL file, and it generates a complete AtScale SML model in seconds.</a:t>
            </a:r>
            <a:br>
              <a:rPr lang="en-US"/>
            </a:br>
            <a:br>
              <a:rPr lang="en-US"/>
            </a:br>
            <a:r>
              <a:rPr lang="en-US"/>
              <a:t>This tool gets you 70% of the way there during implementations. The remaining 30% is the business logic your customer brings, but the structural scaffolding is done for you.</a:t>
            </a:r>
            <a:br>
              <a:rPr lang="en-US"/>
            </a:br>
            <a:br>
              <a:rPr lang="en-US"/>
            </a:br>
            <a:r>
              <a:rPr lang="en-US"/>
              <a:t>The three cards on the right are the three reasons this matters:</a:t>
            </a:r>
            <a:br>
              <a:rPr lang="en-US"/>
            </a:br>
            <a:r>
              <a:rPr lang="en-US"/>
              <a:t>1. Speed: days of work becomes one command.</a:t>
            </a:r>
            <a:br>
              <a:rPr lang="en-US"/>
            </a:br>
            <a:r>
              <a:rPr lang="en-US"/>
              <a:t>2. Standards: every model comes out looking the same, no matter who runs it.</a:t>
            </a:r>
            <a:br>
              <a:rPr lang="en-US"/>
            </a:br>
            <a:r>
              <a:rPr lang="en-US"/>
              <a:t>3. Intelligence: the tool doesn't just generate structure, it also analyzes your existing AtScale model and tells you the highest-value metric-dimension combinations you should be looking at.</a:t>
            </a:r>
            <a:endParaRPr/>
          </a:p>
        </p:txBody>
      </p:sp>
      <p:sp>
        <p:nvSpPr>
          <p:cNvPr id="67" name="Google Shape;67;g3dc6cce9652_1_89:notes"/>
          <p:cNvSpPr txBox="1"/>
          <p:nvPr>
            <p:ph idx="12" type="sldNum"/>
          </p:nvPr>
        </p:nvSpPr>
        <p:spPr>
          <a:xfrm>
            <a:off x="2913460" y="6513910"/>
            <a:ext cx="2229000" cy="344100"/>
          </a:xfrm>
          <a:prstGeom prst="rect">
            <a:avLst/>
          </a:prstGeom>
          <a:noFill/>
          <a:ln>
            <a:noFill/>
          </a:ln>
        </p:spPr>
        <p:txBody>
          <a:bodyPr anchorCtr="0" anchor="b" bIns="34275" lIns="68575" spcFirstLastPara="1" rIns="68575" wrap="square" tIns="342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tool reads schema structure (column types, FK relationships, naming patterns) and makes intelligent decisions about fact vs dimension tables, which columns become measures vs hierarchy levels, and how to wire everything together as AtScale SML.</a:t>
            </a:r>
            <a:br>
              <a:rPr lang="en-US"/>
            </a:br>
            <a:br>
              <a:rPr lang="en-US"/>
            </a:br>
            <a:r>
              <a:rPr lang="en-US"/>
              <a:t>File-based path (generate-sml-from-ddl): no live database needed, CI-friendly.</a:t>
            </a:r>
            <a:br>
              <a:rPr lang="en-US"/>
            </a:br>
            <a:r>
              <a:rPr lang="en-US"/>
              <a:t>Live connection path (generate-sml-from-connection): samples actual data for better type inference.</a:t>
            </a:r>
            <a:br>
              <a:rPr lang="en-US"/>
            </a:br>
            <a:r>
              <a:rPr lang="en-US"/>
              <a:t>Both paths produce identical SML output format and write sml.style.yaml capturing effective settings.</a:t>
            </a:r>
            <a:br>
              <a:rPr lang="en-US"/>
            </a:br>
            <a:br>
              <a:rPr lang="en-US"/>
            </a:br>
            <a:r>
              <a:rPr lang="en-US"/>
              <a:t>generate-metrics-from-model: takes an already-extracted model.yaml and scores every metric x dimension pair. Use --min-score 0.6 as a starting threshold. The YAML output can feed a namespace builder or serve as a discovery deliverable for the customer.</a:t>
            </a:r>
            <a:endParaRPr/>
          </a:p>
        </p:txBody>
      </p:sp>
      <p:sp>
        <p:nvSpPr>
          <p:cNvPr id="102" name="Google Shape;10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each path:</a:t>
            </a:r>
            <a:br>
              <a:rPr lang="en-US"/>
            </a:br>
            <a:br>
              <a:rPr lang="en-US"/>
            </a:br>
            <a:r>
              <a:rPr lang="en-US"/>
              <a:t>DDL path: Database or AtScale Instance, run extract-ddl or gen-ddl to get a DDL file, then run generate-sml-from-ddl to get SML files.</a:t>
            </a:r>
            <a:br>
              <a:rPr lang="en-US"/>
            </a:br>
            <a:r>
              <a:rPr lang="en-US"/>
              <a:t>Direct connection path: Database, run generate-sml-from-connection directly to get SML files. No DDL intermediary needed.</a:t>
            </a:r>
            <a:br>
              <a:rPr lang="en-US"/>
            </a:br>
            <a:r>
              <a:rPr lang="en-US"/>
              <a:t>Ad-hoc SQL: Database, run execute-sql-on-connection to get Results. Standalone utility, not part of the SML generation flow.</a:t>
            </a:r>
            <a:br>
              <a:rPr lang="en-US"/>
            </a:br>
            <a:r>
              <a:rPr lang="en-US"/>
              <a:t>Metrics path: model.yaml is the input (output of the Model Extraction workflow). Run generate-metrics-from-model to produce ranked metrics/*.yml files. This path does NOT start from a database.</a:t>
            </a:r>
            <a:br>
              <a:rPr lang="en-US"/>
            </a:br>
            <a:br>
              <a:rPr lang="en-US"/>
            </a:br>
            <a:endParaRPr/>
          </a:p>
        </p:txBody>
      </p:sp>
      <p:sp>
        <p:nvSpPr>
          <p:cNvPr id="154" name="Google Shape;15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 demo: walk through each step.</a:t>
            </a:r>
            <a:br>
              <a:rPr lang="en-US"/>
            </a:br>
            <a:br>
              <a:rPr lang="en-US"/>
            </a:br>
            <a:r>
              <a:rPr lang="en-US"/>
              <a:t>Step 1: extract-ddl-from-connection - pull the schema from Snowflake. Show the .ddl file that gets created.</a:t>
            </a:r>
            <a:br>
              <a:rPr lang="en-US"/>
            </a:br>
            <a:r>
              <a:rPr lang="en-US"/>
              <a:t>Step 2: generate-sml-from-ddl - runs offline against the DDL. Show the sml-output folder: datasets/, dimensions/, metrics/, models/.</a:t>
            </a:r>
            <a:br>
              <a:rPr lang="en-US"/>
            </a:br>
            <a:r>
              <a:rPr lang="en-US"/>
              <a:t>ALT: generate-sml-from-connection - direct path, same output. Good to show both paths produce identical results.</a:t>
            </a:r>
            <a:br>
              <a:rPr lang="en-US"/>
            </a:br>
            <a:r>
              <a:rPr lang="en-US"/>
              <a:t>Step 3: generate-metrics-from-model - show the suggestions.yaml output. Point out the score column and explain the --min-score threshold. This is a great demo moment to show customers which metrics have the most analytical value.</a:t>
            </a:r>
            <a:br>
              <a:rPr lang="en-US"/>
            </a:br>
            <a:r>
              <a:rPr lang="en-US"/>
              <a:t>Step 4: execute-sql-on-connection - run a quick validation query. Mention the --dry-run and --on-error continue flags.</a:t>
            </a:r>
            <a:br>
              <a:rPr lang="en-US"/>
            </a:br>
            <a:br>
              <a:rPr lang="en-US"/>
            </a:br>
            <a:r>
              <a:rPr lang="en-US"/>
              <a:t>Key talking point: Steps 2 and ALT are interchangeable paths to the same SML output. Step 3 is a natural follow-on once you have a model.</a:t>
            </a:r>
            <a:endParaRPr/>
          </a:p>
        </p:txBody>
      </p:sp>
      <p:sp>
        <p:nvSpPr>
          <p:cNvPr id="222" name="Google Shape;22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6"/>
        </a:solidFill>
      </p:bgPr>
    </p:bg>
    <p:spTree>
      <p:nvGrpSpPr>
        <p:cNvPr id="15" name="Shape 15"/>
        <p:cNvGrpSpPr/>
        <p:nvPr/>
      </p:nvGrpSpPr>
      <p:grpSpPr>
        <a:xfrm>
          <a:off x="0" y="0"/>
          <a:ext cx="0" cy="0"/>
          <a:chOff x="0" y="0"/>
          <a:chExt cx="0" cy="0"/>
        </a:xfrm>
      </p:grpSpPr>
      <p:sp>
        <p:nvSpPr>
          <p:cNvPr id="16" name="Google Shape;16;p3"/>
          <p:cNvSpPr/>
          <p:nvPr/>
        </p:nvSpPr>
        <p:spPr>
          <a:xfrm>
            <a:off x="0" y="0"/>
            <a:ext cx="9144000" cy="50292"/>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7" name="Google Shape;17;p3"/>
          <p:cNvSpPr/>
          <p:nvPr/>
        </p:nvSpPr>
        <p:spPr>
          <a:xfrm>
            <a:off x="411480" y="182880"/>
            <a:ext cx="2606040" cy="246888"/>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8" name="Google Shape;18;p3"/>
          <p:cNvSpPr/>
          <p:nvPr/>
        </p:nvSpPr>
        <p:spPr>
          <a:xfrm>
            <a:off x="411480" y="182880"/>
            <a:ext cx="26060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F36"/>
              </a:buClr>
              <a:buSzPts val="750"/>
              <a:buFont typeface="Calibri"/>
              <a:buNone/>
            </a:pPr>
            <a:r>
              <a:rPr b="1" i="0" lang="en-US" sz="1150" u="none" cap="none" strike="noStrike">
                <a:solidFill>
                  <a:srgbClr val="0B1F36"/>
                </a:solidFill>
                <a:latin typeface="Calibri"/>
                <a:ea typeface="Calibri"/>
                <a:cs typeface="Calibri"/>
                <a:sym typeface="Calibri"/>
              </a:rPr>
              <a:t>TRACK 2  ·  SML CREATION &amp; MANIPULATION</a:t>
            </a:r>
            <a:endParaRPr b="0" i="0" sz="750" u="none" cap="none" strike="noStrike">
              <a:solidFill>
                <a:schemeClr val="dk1"/>
              </a:solidFill>
              <a:latin typeface="Calibri"/>
              <a:ea typeface="Calibri"/>
              <a:cs typeface="Calibri"/>
              <a:sym typeface="Calibri"/>
            </a:endParaRPr>
          </a:p>
        </p:txBody>
      </p:sp>
      <p:sp>
        <p:nvSpPr>
          <p:cNvPr id="19" name="Google Shape;19;p3"/>
          <p:cNvSpPr/>
          <p:nvPr/>
        </p:nvSpPr>
        <p:spPr>
          <a:xfrm>
            <a:off x="420585" y="740640"/>
            <a:ext cx="8412600" cy="530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Calibri"/>
              <a:buNone/>
            </a:pPr>
            <a:r>
              <a:rPr b="1" lang="en-US" sz="3600">
                <a:solidFill>
                  <a:schemeClr val="lt1"/>
                </a:solidFill>
                <a:latin typeface="Calibri"/>
                <a:ea typeface="Calibri"/>
                <a:cs typeface="Calibri"/>
                <a:sym typeface="Calibri"/>
              </a:rPr>
              <a:t>SML Creation &amp; Manipulation</a:t>
            </a:r>
            <a:endParaRPr sz="36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3600"/>
              <a:buFont typeface="Calibri"/>
              <a:buNone/>
            </a:pPr>
            <a:r>
              <a:rPr/>
              <a:t/>
            </a:r>
            <a:endParaRPr b="1" sz="3600">
              <a:solidFill>
                <a:srgbClr val="FFFFFF"/>
              </a:solidFill>
              <a:latin typeface="Calibri"/>
              <a:ea typeface="Calibri"/>
              <a:cs typeface="Calibri"/>
              <a:sym typeface="Calibri"/>
            </a:endParaRPr>
          </a:p>
        </p:txBody>
      </p:sp>
      <p:sp>
        <p:nvSpPr>
          <p:cNvPr id="20" name="Google Shape;20;p3"/>
          <p:cNvSpPr/>
          <p:nvPr/>
        </p:nvSpPr>
        <p:spPr>
          <a:xfrm>
            <a:off x="365760" y="1143000"/>
            <a:ext cx="84124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A8C4"/>
              </a:buClr>
              <a:buSzPts val="1250"/>
              <a:buFont typeface="Calibri"/>
              <a:buNone/>
            </a:pPr>
            <a:r>
              <a:rPr b="0" i="1" lang="en-US" sz="1550" u="none" cap="none" strike="noStrike">
                <a:solidFill>
                  <a:srgbClr val="8BA8C4"/>
                </a:solidFill>
                <a:latin typeface="Calibri"/>
                <a:ea typeface="Calibri"/>
                <a:cs typeface="Calibri"/>
                <a:sym typeface="Calibri"/>
              </a:rPr>
              <a:t>From raw schema to deployed AtScale model, with built-in metric insight discovery</a:t>
            </a:r>
            <a:endParaRPr b="0" i="0" sz="1250" u="none" cap="none" strike="noStrike">
              <a:solidFill>
                <a:schemeClr val="dk1"/>
              </a:solidFill>
              <a:latin typeface="Calibri"/>
              <a:ea typeface="Calibri"/>
              <a:cs typeface="Calibri"/>
              <a:sym typeface="Calibri"/>
            </a:endParaRPr>
          </a:p>
        </p:txBody>
      </p:sp>
      <p:cxnSp>
        <p:nvCxnSpPr>
          <p:cNvPr id="21" name="Google Shape;21;p3"/>
          <p:cNvCxnSpPr/>
          <p:nvPr/>
        </p:nvCxnSpPr>
        <p:spPr>
          <a:xfrm>
            <a:off x="3200400" y="1499616"/>
            <a:ext cx="2743200" cy="0"/>
          </a:xfrm>
          <a:prstGeom prst="straightConnector1">
            <a:avLst/>
          </a:prstGeom>
          <a:noFill/>
          <a:ln cap="flat" cmpd="sng" w="19050">
            <a:solidFill>
              <a:srgbClr val="00B4D8"/>
            </a:solidFill>
            <a:prstDash val="solid"/>
            <a:round/>
            <a:headEnd len="sm" w="sm" type="none"/>
            <a:tailEnd len="sm" w="sm" type="none"/>
          </a:ln>
        </p:spPr>
      </p:cxnSp>
      <p:sp>
        <p:nvSpPr>
          <p:cNvPr id="22" name="Google Shape;22;p3"/>
          <p:cNvSpPr/>
          <p:nvPr/>
        </p:nvSpPr>
        <p:spPr>
          <a:xfrm>
            <a:off x="365760" y="1581912"/>
            <a:ext cx="841248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A8C4"/>
              </a:buClr>
              <a:buSzPts val="750"/>
              <a:buFont typeface="Calibri"/>
              <a:buNone/>
            </a:pPr>
            <a:r>
              <a:rPr b="1" i="0" lang="en-US" sz="1150" u="none" cap="none" strike="noStrike">
                <a:solidFill>
                  <a:srgbClr val="8BA8C4"/>
                </a:solidFill>
                <a:latin typeface="Calibri"/>
                <a:ea typeface="Calibri"/>
                <a:cs typeface="Calibri"/>
                <a:sym typeface="Calibri"/>
              </a:rPr>
              <a:t>WHAT THIS TRACK COVERS</a:t>
            </a:r>
            <a:endParaRPr b="0" i="0" sz="750" u="none" cap="none" strike="noStrike">
              <a:solidFill>
                <a:schemeClr val="dk1"/>
              </a:solidFill>
              <a:latin typeface="Calibri"/>
              <a:ea typeface="Calibri"/>
              <a:cs typeface="Calibri"/>
              <a:sym typeface="Calibri"/>
            </a:endParaRPr>
          </a:p>
        </p:txBody>
      </p:sp>
      <p:sp>
        <p:nvSpPr>
          <p:cNvPr id="23" name="Google Shape;23;p3"/>
          <p:cNvSpPr/>
          <p:nvPr/>
        </p:nvSpPr>
        <p:spPr>
          <a:xfrm>
            <a:off x="388620" y="1810512"/>
            <a:ext cx="1234440" cy="987552"/>
          </a:xfrm>
          <a:prstGeom prst="rect">
            <a:avLst/>
          </a:prstGeom>
          <a:solidFill>
            <a:srgbClr val="162840"/>
          </a:solidFill>
          <a:ln cap="flat" cmpd="sng" w="19050">
            <a:solidFill>
              <a:srgbClr val="00B4D8"/>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4" name="Google Shape;24;p3"/>
          <p:cNvSpPr/>
          <p:nvPr/>
        </p:nvSpPr>
        <p:spPr>
          <a:xfrm>
            <a:off x="388620" y="1810512"/>
            <a:ext cx="1234440" cy="4572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5" name="Google Shape;25;p3"/>
          <p:cNvSpPr/>
          <p:nvPr/>
        </p:nvSpPr>
        <p:spPr>
          <a:xfrm>
            <a:off x="434340" y="1901952"/>
            <a:ext cx="1143000" cy="877824"/>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0B4D8"/>
              </a:buClr>
              <a:buSzPts val="800"/>
              <a:buFont typeface="Consolas"/>
              <a:buNone/>
            </a:pPr>
            <a:r>
              <a:rPr b="1" i="0" lang="en-US" sz="1200" u="none" cap="none" strike="noStrike">
                <a:solidFill>
                  <a:srgbClr val="00B4D8"/>
                </a:solidFill>
                <a:latin typeface="Consolas"/>
                <a:ea typeface="Consolas"/>
                <a:cs typeface="Consolas"/>
                <a:sym typeface="Consolas"/>
              </a:rPr>
              <a:t>extract-ddl-</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B4D8"/>
              </a:buClr>
              <a:buSzPts val="800"/>
              <a:buFont typeface="Consolas"/>
              <a:buNone/>
            </a:pPr>
            <a:r>
              <a:rPr b="1" i="0" lang="en-US" sz="1200" u="none" cap="none" strike="noStrike">
                <a:solidFill>
                  <a:srgbClr val="00B4D8"/>
                </a:solidFill>
                <a:latin typeface="Consolas"/>
                <a:ea typeface="Consolas"/>
                <a:cs typeface="Consolas"/>
                <a:sym typeface="Consolas"/>
              </a:rPr>
              <a:t>from-connection</a:t>
            </a:r>
            <a:endParaRPr b="0" i="0" sz="800" u="none" cap="none" strike="noStrike">
              <a:solidFill>
                <a:schemeClr val="dk1"/>
              </a:solidFill>
              <a:latin typeface="Calibri"/>
              <a:ea typeface="Calibri"/>
              <a:cs typeface="Calibri"/>
              <a:sym typeface="Calibri"/>
            </a:endParaRPr>
          </a:p>
        </p:txBody>
      </p:sp>
      <p:sp>
        <p:nvSpPr>
          <p:cNvPr id="26" name="Google Shape;26;p3"/>
          <p:cNvSpPr/>
          <p:nvPr/>
        </p:nvSpPr>
        <p:spPr>
          <a:xfrm>
            <a:off x="1760220" y="1810512"/>
            <a:ext cx="1234440" cy="987552"/>
          </a:xfrm>
          <a:prstGeom prst="rect">
            <a:avLst/>
          </a:prstGeom>
          <a:solidFill>
            <a:srgbClr val="162840"/>
          </a:solidFill>
          <a:ln cap="flat" cmpd="sng" w="19050">
            <a:solidFill>
              <a:srgbClr val="00B4D8"/>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7" name="Google Shape;27;p3"/>
          <p:cNvSpPr/>
          <p:nvPr/>
        </p:nvSpPr>
        <p:spPr>
          <a:xfrm>
            <a:off x="1760220" y="1810512"/>
            <a:ext cx="1234440" cy="4572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8" name="Google Shape;28;p3"/>
          <p:cNvSpPr/>
          <p:nvPr/>
        </p:nvSpPr>
        <p:spPr>
          <a:xfrm>
            <a:off x="1805940" y="1901952"/>
            <a:ext cx="1143000" cy="877824"/>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0B4D8"/>
              </a:buClr>
              <a:buSzPts val="800"/>
              <a:buFont typeface="Consolas"/>
              <a:buNone/>
            </a:pPr>
            <a:r>
              <a:rPr b="1" i="0" lang="en-US" sz="1200" u="none" cap="none" strike="noStrike">
                <a:solidFill>
                  <a:srgbClr val="00B4D8"/>
                </a:solidFill>
                <a:latin typeface="Consolas"/>
                <a:ea typeface="Consolas"/>
                <a:cs typeface="Consolas"/>
                <a:sym typeface="Consolas"/>
              </a:rPr>
              <a:t>generate-ddl-</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B4D8"/>
              </a:buClr>
              <a:buSzPts val="800"/>
              <a:buFont typeface="Consolas"/>
              <a:buNone/>
            </a:pPr>
            <a:r>
              <a:rPr b="1" i="0" lang="en-US" sz="1200" u="none" cap="none" strike="noStrike">
                <a:solidFill>
                  <a:srgbClr val="00B4D8"/>
                </a:solidFill>
                <a:latin typeface="Consolas"/>
                <a:ea typeface="Consolas"/>
                <a:cs typeface="Consolas"/>
                <a:sym typeface="Consolas"/>
              </a:rPr>
              <a:t>from-atscale</a:t>
            </a:r>
            <a:endParaRPr b="0" i="0" sz="800" u="none" cap="none" strike="noStrike">
              <a:solidFill>
                <a:schemeClr val="dk1"/>
              </a:solidFill>
              <a:latin typeface="Calibri"/>
              <a:ea typeface="Calibri"/>
              <a:cs typeface="Calibri"/>
              <a:sym typeface="Calibri"/>
            </a:endParaRPr>
          </a:p>
        </p:txBody>
      </p:sp>
      <p:sp>
        <p:nvSpPr>
          <p:cNvPr id="29" name="Google Shape;29;p3"/>
          <p:cNvSpPr/>
          <p:nvPr/>
        </p:nvSpPr>
        <p:spPr>
          <a:xfrm>
            <a:off x="3268980" y="1810512"/>
            <a:ext cx="1234440" cy="987552"/>
          </a:xfrm>
          <a:prstGeom prst="rect">
            <a:avLst/>
          </a:prstGeom>
          <a:solidFill>
            <a:srgbClr val="162840"/>
          </a:solidFill>
          <a:ln cap="flat" cmpd="sng" w="19050">
            <a:solidFill>
              <a:srgbClr val="2EC278"/>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0" name="Google Shape;30;p3"/>
          <p:cNvSpPr/>
          <p:nvPr/>
        </p:nvSpPr>
        <p:spPr>
          <a:xfrm>
            <a:off x="3268980" y="1810512"/>
            <a:ext cx="1234440" cy="45720"/>
          </a:xfrm>
          <a:prstGeom prst="rect">
            <a:avLst/>
          </a:prstGeom>
          <a:solidFill>
            <a:srgbClr val="2EC278"/>
          </a:solidFill>
          <a:ln cap="flat" cmpd="sng" w="12700">
            <a:solidFill>
              <a:srgbClr val="2EC2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1" name="Google Shape;31;p3"/>
          <p:cNvSpPr/>
          <p:nvPr/>
        </p:nvSpPr>
        <p:spPr>
          <a:xfrm>
            <a:off x="3314700" y="1901952"/>
            <a:ext cx="1143000" cy="877824"/>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2EC278"/>
              </a:buClr>
              <a:buSzPts val="800"/>
              <a:buFont typeface="Consolas"/>
              <a:buNone/>
            </a:pPr>
            <a:r>
              <a:rPr b="1" i="0" lang="en-US" sz="1200" u="none" cap="none" strike="noStrike">
                <a:solidFill>
                  <a:srgbClr val="2EC278"/>
                </a:solidFill>
                <a:latin typeface="Consolas"/>
                <a:ea typeface="Consolas"/>
                <a:cs typeface="Consolas"/>
                <a:sym typeface="Consolas"/>
              </a:rPr>
              <a:t>generate-sml-</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EC278"/>
              </a:buClr>
              <a:buSzPts val="800"/>
              <a:buFont typeface="Consolas"/>
              <a:buNone/>
            </a:pPr>
            <a:r>
              <a:rPr b="1" i="0" lang="en-US" sz="1200" u="none" cap="none" strike="noStrike">
                <a:solidFill>
                  <a:srgbClr val="2EC278"/>
                </a:solidFill>
                <a:latin typeface="Consolas"/>
                <a:ea typeface="Consolas"/>
                <a:cs typeface="Consolas"/>
                <a:sym typeface="Consolas"/>
              </a:rPr>
              <a:t>from-ddl</a:t>
            </a:r>
            <a:endParaRPr b="0" i="0" sz="800" u="none" cap="none" strike="noStrike">
              <a:solidFill>
                <a:schemeClr val="dk1"/>
              </a:solidFill>
              <a:latin typeface="Calibri"/>
              <a:ea typeface="Calibri"/>
              <a:cs typeface="Calibri"/>
              <a:sym typeface="Calibri"/>
            </a:endParaRPr>
          </a:p>
        </p:txBody>
      </p:sp>
      <p:sp>
        <p:nvSpPr>
          <p:cNvPr id="32" name="Google Shape;32;p3"/>
          <p:cNvSpPr/>
          <p:nvPr/>
        </p:nvSpPr>
        <p:spPr>
          <a:xfrm>
            <a:off x="4640580" y="1810512"/>
            <a:ext cx="1234440" cy="987552"/>
          </a:xfrm>
          <a:prstGeom prst="rect">
            <a:avLst/>
          </a:prstGeom>
          <a:solidFill>
            <a:srgbClr val="162840"/>
          </a:solidFill>
          <a:ln cap="flat" cmpd="sng" w="19050">
            <a:solidFill>
              <a:srgbClr val="2EC278"/>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3" name="Google Shape;33;p3"/>
          <p:cNvSpPr/>
          <p:nvPr/>
        </p:nvSpPr>
        <p:spPr>
          <a:xfrm>
            <a:off x="4640580" y="1810512"/>
            <a:ext cx="1234440" cy="45720"/>
          </a:xfrm>
          <a:prstGeom prst="rect">
            <a:avLst/>
          </a:prstGeom>
          <a:solidFill>
            <a:srgbClr val="2EC278"/>
          </a:solidFill>
          <a:ln cap="flat" cmpd="sng" w="12700">
            <a:solidFill>
              <a:srgbClr val="2EC2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4" name="Google Shape;34;p3"/>
          <p:cNvSpPr/>
          <p:nvPr/>
        </p:nvSpPr>
        <p:spPr>
          <a:xfrm>
            <a:off x="4686300" y="1901952"/>
            <a:ext cx="1143000" cy="877824"/>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2EC278"/>
              </a:buClr>
              <a:buSzPts val="800"/>
              <a:buFont typeface="Consolas"/>
              <a:buNone/>
            </a:pPr>
            <a:r>
              <a:rPr b="1" i="0" lang="en-US" sz="1200" u="none" cap="none" strike="noStrike">
                <a:solidFill>
                  <a:srgbClr val="2EC278"/>
                </a:solidFill>
                <a:latin typeface="Consolas"/>
                <a:ea typeface="Consolas"/>
                <a:cs typeface="Consolas"/>
                <a:sym typeface="Consolas"/>
              </a:rPr>
              <a:t>generate-sml-</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EC278"/>
              </a:buClr>
              <a:buSzPts val="800"/>
              <a:buFont typeface="Consolas"/>
              <a:buNone/>
            </a:pPr>
            <a:r>
              <a:rPr b="1" i="0" lang="en-US" sz="1200" u="none" cap="none" strike="noStrike">
                <a:solidFill>
                  <a:srgbClr val="2EC278"/>
                </a:solidFill>
                <a:latin typeface="Consolas"/>
                <a:ea typeface="Consolas"/>
                <a:cs typeface="Consolas"/>
                <a:sym typeface="Consolas"/>
              </a:rPr>
              <a:t>from-connection</a:t>
            </a:r>
            <a:endParaRPr b="0" i="0" sz="800" u="none" cap="none" strike="noStrike">
              <a:solidFill>
                <a:schemeClr val="dk1"/>
              </a:solidFill>
              <a:latin typeface="Calibri"/>
              <a:ea typeface="Calibri"/>
              <a:cs typeface="Calibri"/>
              <a:sym typeface="Calibri"/>
            </a:endParaRPr>
          </a:p>
        </p:txBody>
      </p:sp>
      <p:sp>
        <p:nvSpPr>
          <p:cNvPr id="38" name="Google Shape;38;p3"/>
          <p:cNvSpPr/>
          <p:nvPr/>
        </p:nvSpPr>
        <p:spPr>
          <a:xfrm>
            <a:off x="6835140" y="1810512"/>
            <a:ext cx="1234440" cy="987552"/>
          </a:xfrm>
          <a:prstGeom prst="rect">
            <a:avLst/>
          </a:prstGeom>
          <a:solidFill>
            <a:srgbClr val="162840"/>
          </a:solidFill>
          <a:ln cap="flat" cmpd="sng" w="19050">
            <a:solidFill>
              <a:srgbClr val="A855F7"/>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39" name="Google Shape;39;p3"/>
          <p:cNvSpPr/>
          <p:nvPr/>
        </p:nvSpPr>
        <p:spPr>
          <a:xfrm>
            <a:off x="6835140" y="1810512"/>
            <a:ext cx="1234440" cy="45720"/>
          </a:xfrm>
          <a:prstGeom prst="rect">
            <a:avLst/>
          </a:prstGeom>
          <a:solidFill>
            <a:srgbClr val="A855F7"/>
          </a:solidFill>
          <a:ln cap="flat" cmpd="sng" w="12700">
            <a:solidFill>
              <a:srgbClr val="A855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40" name="Google Shape;40;p3"/>
          <p:cNvSpPr/>
          <p:nvPr/>
        </p:nvSpPr>
        <p:spPr>
          <a:xfrm>
            <a:off x="6880860" y="1901952"/>
            <a:ext cx="1143000" cy="877824"/>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A855F7"/>
              </a:buClr>
              <a:buSzPts val="800"/>
              <a:buFont typeface="Consolas"/>
              <a:buNone/>
            </a:pPr>
            <a:r>
              <a:rPr b="1" i="0" lang="en-US" sz="1200" u="none" cap="none" strike="noStrike">
                <a:solidFill>
                  <a:srgbClr val="A855F7"/>
                </a:solidFill>
                <a:latin typeface="Consolas"/>
                <a:ea typeface="Consolas"/>
                <a:cs typeface="Consolas"/>
                <a:sym typeface="Consolas"/>
              </a:rPr>
              <a:t>generate-metrics-</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A855F7"/>
              </a:buClr>
              <a:buSzPts val="800"/>
              <a:buFont typeface="Consolas"/>
              <a:buNone/>
            </a:pPr>
            <a:r>
              <a:rPr b="1" i="0" lang="en-US" sz="1200" u="none" cap="none" strike="noStrike">
                <a:solidFill>
                  <a:srgbClr val="A855F7"/>
                </a:solidFill>
                <a:latin typeface="Consolas"/>
                <a:ea typeface="Consolas"/>
                <a:cs typeface="Consolas"/>
                <a:sym typeface="Consolas"/>
              </a:rPr>
              <a:t>from-model</a:t>
            </a:r>
            <a:endParaRPr b="0" i="0" sz="800" u="none" cap="none" strike="noStrike">
              <a:solidFill>
                <a:schemeClr val="dk1"/>
              </a:solidFill>
              <a:latin typeface="Calibri"/>
              <a:ea typeface="Calibri"/>
              <a:cs typeface="Calibri"/>
              <a:sym typeface="Calibri"/>
            </a:endParaRPr>
          </a:p>
        </p:txBody>
      </p:sp>
      <p:sp>
        <p:nvSpPr>
          <p:cNvPr id="41" name="Google Shape;41;p3"/>
          <p:cNvSpPr/>
          <p:nvPr/>
        </p:nvSpPr>
        <p:spPr>
          <a:xfrm>
            <a:off x="320040" y="2889504"/>
            <a:ext cx="2743200" cy="292608"/>
          </a:xfrm>
          <a:prstGeom prst="rect">
            <a:avLst/>
          </a:prstGeom>
          <a:solidFill>
            <a:srgbClr val="132D4F"/>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42" name="Google Shape;42;p3"/>
          <p:cNvSpPr/>
          <p:nvPr/>
        </p:nvSpPr>
        <p:spPr>
          <a:xfrm>
            <a:off x="320040" y="2889504"/>
            <a:ext cx="27432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4D8"/>
              </a:buClr>
              <a:buSzPts val="900"/>
              <a:buFont typeface="Consolas"/>
              <a:buNone/>
            </a:pPr>
            <a:r>
              <a:rPr b="1" i="0" lang="en-US" sz="1200" u="none" cap="none" strike="noStrike">
                <a:solidFill>
                  <a:srgbClr val="00B4D8"/>
                </a:solidFill>
                <a:latin typeface="Consolas"/>
                <a:ea typeface="Consolas"/>
                <a:cs typeface="Consolas"/>
                <a:sym typeface="Consolas"/>
              </a:rPr>
              <a:t>-&gt; DDL (.sql)</a:t>
            </a:r>
            <a:endParaRPr b="0" i="0" sz="900" u="none" cap="none" strike="noStrike">
              <a:solidFill>
                <a:schemeClr val="dk1"/>
              </a:solidFill>
              <a:latin typeface="Calibri"/>
              <a:ea typeface="Calibri"/>
              <a:cs typeface="Calibri"/>
              <a:sym typeface="Calibri"/>
            </a:endParaRPr>
          </a:p>
        </p:txBody>
      </p:sp>
      <p:sp>
        <p:nvSpPr>
          <p:cNvPr id="43" name="Google Shape;43;p3"/>
          <p:cNvSpPr/>
          <p:nvPr/>
        </p:nvSpPr>
        <p:spPr>
          <a:xfrm>
            <a:off x="3200400" y="2889504"/>
            <a:ext cx="2743200" cy="292608"/>
          </a:xfrm>
          <a:prstGeom prst="rect">
            <a:avLst/>
          </a:prstGeom>
          <a:solidFill>
            <a:srgbClr val="132D4F"/>
          </a:solidFill>
          <a:ln cap="flat" cmpd="sng" w="12700">
            <a:solidFill>
              <a:srgbClr val="2EC2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44" name="Google Shape;44;p3"/>
          <p:cNvSpPr/>
          <p:nvPr/>
        </p:nvSpPr>
        <p:spPr>
          <a:xfrm>
            <a:off x="3200400" y="2889504"/>
            <a:ext cx="27432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C278"/>
              </a:buClr>
              <a:buSzPts val="900"/>
              <a:buFont typeface="Consolas"/>
              <a:buNone/>
            </a:pPr>
            <a:r>
              <a:rPr b="1" i="0" lang="en-US" sz="1200" u="none" cap="none" strike="noStrike">
                <a:solidFill>
                  <a:srgbClr val="2EC278"/>
                </a:solidFill>
                <a:latin typeface="Consolas"/>
                <a:ea typeface="Consolas"/>
                <a:cs typeface="Consolas"/>
                <a:sym typeface="Consolas"/>
              </a:rPr>
              <a:t>-&gt; SML Files</a:t>
            </a:r>
            <a:endParaRPr b="0" i="0" sz="900" u="none" cap="none" strike="noStrike">
              <a:solidFill>
                <a:schemeClr val="dk1"/>
              </a:solidFill>
              <a:latin typeface="Calibri"/>
              <a:ea typeface="Calibri"/>
              <a:cs typeface="Calibri"/>
              <a:sym typeface="Calibri"/>
            </a:endParaRPr>
          </a:p>
        </p:txBody>
      </p:sp>
      <p:sp>
        <p:nvSpPr>
          <p:cNvPr id="47" name="Google Shape;47;p3"/>
          <p:cNvSpPr/>
          <p:nvPr/>
        </p:nvSpPr>
        <p:spPr>
          <a:xfrm>
            <a:off x="6080760" y="2889504"/>
            <a:ext cx="2743200" cy="292608"/>
          </a:xfrm>
          <a:prstGeom prst="rect">
            <a:avLst/>
          </a:prstGeom>
          <a:solidFill>
            <a:srgbClr val="132D4F"/>
          </a:solidFill>
          <a:ln cap="flat" cmpd="sng" w="12700">
            <a:solidFill>
              <a:srgbClr val="A855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48" name="Google Shape;48;p3"/>
          <p:cNvSpPr/>
          <p:nvPr/>
        </p:nvSpPr>
        <p:spPr>
          <a:xfrm>
            <a:off x="6080760" y="2889504"/>
            <a:ext cx="27432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55F7"/>
              </a:buClr>
              <a:buSzPts val="900"/>
              <a:buFont typeface="Consolas"/>
              <a:buNone/>
            </a:pPr>
            <a:r>
              <a:rPr b="1" i="0" lang="en-US" sz="1200" u="none" cap="none" strike="noStrike">
                <a:solidFill>
                  <a:srgbClr val="A855F7"/>
                </a:solidFill>
                <a:latin typeface="Consolas"/>
                <a:ea typeface="Consolas"/>
                <a:cs typeface="Consolas"/>
                <a:sym typeface="Consolas"/>
              </a:rPr>
              <a:t>-&gt; metrics/*.yml</a:t>
            </a:r>
            <a:endParaRPr b="0" i="0" sz="900" u="none" cap="none" strike="noStrike">
              <a:solidFill>
                <a:schemeClr val="dk1"/>
              </a:solidFill>
              <a:latin typeface="Calibri"/>
              <a:ea typeface="Calibri"/>
              <a:cs typeface="Calibri"/>
              <a:sym typeface="Calibri"/>
            </a:endParaRPr>
          </a:p>
        </p:txBody>
      </p:sp>
      <p:sp>
        <p:nvSpPr>
          <p:cNvPr id="49" name="Google Shape;49;p3"/>
          <p:cNvSpPr/>
          <p:nvPr/>
        </p:nvSpPr>
        <p:spPr>
          <a:xfrm>
            <a:off x="320040" y="3310128"/>
            <a:ext cx="2743200" cy="1399032"/>
          </a:xfrm>
          <a:prstGeom prst="rect">
            <a:avLst/>
          </a:prstGeom>
          <a:solidFill>
            <a:srgbClr val="162840"/>
          </a:solidFill>
          <a:ln cap="flat" cmpd="sng" w="19050">
            <a:solidFill>
              <a:srgbClr val="00B4D8"/>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50" name="Google Shape;50;p3"/>
          <p:cNvSpPr/>
          <p:nvPr/>
        </p:nvSpPr>
        <p:spPr>
          <a:xfrm>
            <a:off x="320040" y="3310128"/>
            <a:ext cx="64008" cy="1399032"/>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51" name="Google Shape;51;p3"/>
          <p:cNvSpPr/>
          <p:nvPr/>
        </p:nvSpPr>
        <p:spPr>
          <a:xfrm>
            <a:off x="502920" y="3419856"/>
            <a:ext cx="244144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4D8"/>
              </a:buClr>
              <a:buSzPts val="1050"/>
              <a:buFont typeface="Calibri"/>
              <a:buNone/>
            </a:pPr>
            <a:r>
              <a:rPr b="1" i="0" lang="en-US" sz="1350" u="none" cap="none" strike="noStrike">
                <a:solidFill>
                  <a:srgbClr val="00B4D8"/>
                </a:solidFill>
                <a:latin typeface="Calibri"/>
                <a:ea typeface="Calibri"/>
                <a:cs typeface="Calibri"/>
                <a:sym typeface="Calibri"/>
              </a:rPr>
              <a:t>FILE-BASED PATH</a:t>
            </a:r>
            <a:endParaRPr b="0" i="0" sz="1050" u="none" cap="none" strike="noStrike">
              <a:solidFill>
                <a:schemeClr val="dk1"/>
              </a:solidFill>
              <a:latin typeface="Calibri"/>
              <a:ea typeface="Calibri"/>
              <a:cs typeface="Calibri"/>
              <a:sym typeface="Calibri"/>
            </a:endParaRPr>
          </a:p>
        </p:txBody>
      </p:sp>
      <p:sp>
        <p:nvSpPr>
          <p:cNvPr id="52" name="Google Shape;52;p3"/>
          <p:cNvSpPr/>
          <p:nvPr/>
        </p:nvSpPr>
        <p:spPr>
          <a:xfrm>
            <a:off x="502920" y="3749040"/>
            <a:ext cx="2441448" cy="8869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8E4F0"/>
              </a:buClr>
              <a:buSzPts val="1000"/>
              <a:buFont typeface="Calibri"/>
              <a:buNone/>
            </a:pPr>
            <a:r>
              <a:rPr b="0" i="0" lang="en-US" sz="1300" u="none" cap="none" strike="noStrike">
                <a:solidFill>
                  <a:srgbClr val="D8E4F0"/>
                </a:solidFill>
                <a:latin typeface="Calibri"/>
                <a:ea typeface="Calibri"/>
                <a:cs typeface="Calibri"/>
                <a:sym typeface="Calibri"/>
              </a:rPr>
              <a:t>Use a DDL file with no live database required. Plugs straight into CI pipelines and works great when you only have a schema export.</a:t>
            </a:r>
            <a:endParaRPr b="0" i="0" sz="1000" u="none" cap="none" strike="noStrike">
              <a:solidFill>
                <a:schemeClr val="dk1"/>
              </a:solidFill>
              <a:latin typeface="Calibri"/>
              <a:ea typeface="Calibri"/>
              <a:cs typeface="Calibri"/>
              <a:sym typeface="Calibri"/>
            </a:endParaRPr>
          </a:p>
        </p:txBody>
      </p:sp>
      <p:sp>
        <p:nvSpPr>
          <p:cNvPr id="53" name="Google Shape;53;p3"/>
          <p:cNvSpPr/>
          <p:nvPr/>
        </p:nvSpPr>
        <p:spPr>
          <a:xfrm>
            <a:off x="3200400" y="3310128"/>
            <a:ext cx="2743200" cy="1399032"/>
          </a:xfrm>
          <a:prstGeom prst="rect">
            <a:avLst/>
          </a:prstGeom>
          <a:solidFill>
            <a:srgbClr val="162840"/>
          </a:solidFill>
          <a:ln cap="flat" cmpd="sng" w="19050">
            <a:solidFill>
              <a:srgbClr val="2EC278"/>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54" name="Google Shape;54;p3"/>
          <p:cNvSpPr/>
          <p:nvPr/>
        </p:nvSpPr>
        <p:spPr>
          <a:xfrm>
            <a:off x="3200400" y="3310128"/>
            <a:ext cx="64008" cy="1399032"/>
          </a:xfrm>
          <a:prstGeom prst="rect">
            <a:avLst/>
          </a:prstGeom>
          <a:solidFill>
            <a:srgbClr val="2EC278"/>
          </a:solidFill>
          <a:ln cap="flat" cmpd="sng" w="12700">
            <a:solidFill>
              <a:srgbClr val="2EC2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55" name="Google Shape;55;p3"/>
          <p:cNvSpPr/>
          <p:nvPr/>
        </p:nvSpPr>
        <p:spPr>
          <a:xfrm>
            <a:off x="3383280" y="3419856"/>
            <a:ext cx="244144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C278"/>
              </a:buClr>
              <a:buSzPts val="1050"/>
              <a:buFont typeface="Calibri"/>
              <a:buNone/>
            </a:pPr>
            <a:r>
              <a:rPr b="1" i="0" lang="en-US" sz="1350" u="none" cap="none" strike="noStrike">
                <a:solidFill>
                  <a:srgbClr val="2EC278"/>
                </a:solidFill>
                <a:latin typeface="Calibri"/>
                <a:ea typeface="Calibri"/>
                <a:cs typeface="Calibri"/>
                <a:sym typeface="Calibri"/>
              </a:rPr>
              <a:t>LIVE CONNECTION PATH</a:t>
            </a:r>
            <a:endParaRPr b="0" i="0" sz="1050" u="none" cap="none" strike="noStrike">
              <a:solidFill>
                <a:schemeClr val="dk1"/>
              </a:solidFill>
              <a:latin typeface="Calibri"/>
              <a:ea typeface="Calibri"/>
              <a:cs typeface="Calibri"/>
              <a:sym typeface="Calibri"/>
            </a:endParaRPr>
          </a:p>
        </p:txBody>
      </p:sp>
      <p:sp>
        <p:nvSpPr>
          <p:cNvPr id="56" name="Google Shape;56;p3"/>
          <p:cNvSpPr/>
          <p:nvPr/>
        </p:nvSpPr>
        <p:spPr>
          <a:xfrm>
            <a:off x="3383280" y="3749040"/>
            <a:ext cx="2441448" cy="8869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8E4F0"/>
              </a:buClr>
              <a:buSzPts val="1000"/>
              <a:buFont typeface="Calibri"/>
              <a:buNone/>
            </a:pPr>
            <a:r>
              <a:rPr b="0" i="0" lang="en-US" sz="1300" u="none" cap="none" strike="noStrike">
                <a:solidFill>
                  <a:srgbClr val="D8E4F0"/>
                </a:solidFill>
                <a:latin typeface="Calibri"/>
                <a:ea typeface="Calibri"/>
                <a:cs typeface="Calibri"/>
                <a:sym typeface="Calibri"/>
              </a:rPr>
              <a:t>Connect live and the tool samples your actual data for sharper type inference. Produces the same SML output as the file-based path.</a:t>
            </a:r>
            <a:endParaRPr b="0" i="0" sz="1000" u="none" cap="none" strike="noStrike">
              <a:solidFill>
                <a:schemeClr val="dk1"/>
              </a:solidFill>
              <a:latin typeface="Calibri"/>
              <a:ea typeface="Calibri"/>
              <a:cs typeface="Calibri"/>
              <a:sym typeface="Calibri"/>
            </a:endParaRPr>
          </a:p>
        </p:txBody>
      </p:sp>
      <p:sp>
        <p:nvSpPr>
          <p:cNvPr id="57" name="Google Shape;57;p3"/>
          <p:cNvSpPr/>
          <p:nvPr/>
        </p:nvSpPr>
        <p:spPr>
          <a:xfrm>
            <a:off x="6080760" y="3310128"/>
            <a:ext cx="2743200" cy="1399032"/>
          </a:xfrm>
          <a:prstGeom prst="rect">
            <a:avLst/>
          </a:prstGeom>
          <a:solidFill>
            <a:srgbClr val="162840"/>
          </a:solidFill>
          <a:ln cap="flat" cmpd="sng" w="19050">
            <a:solidFill>
              <a:srgbClr val="A855F7"/>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58" name="Google Shape;58;p3"/>
          <p:cNvSpPr/>
          <p:nvPr/>
        </p:nvSpPr>
        <p:spPr>
          <a:xfrm>
            <a:off x="6080760" y="3310128"/>
            <a:ext cx="64008" cy="1399032"/>
          </a:xfrm>
          <a:prstGeom prst="rect">
            <a:avLst/>
          </a:prstGeom>
          <a:solidFill>
            <a:srgbClr val="A855F7"/>
          </a:solidFill>
          <a:ln cap="flat" cmpd="sng" w="12700">
            <a:solidFill>
              <a:srgbClr val="A855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59" name="Google Shape;59;p3"/>
          <p:cNvSpPr/>
          <p:nvPr/>
        </p:nvSpPr>
        <p:spPr>
          <a:xfrm>
            <a:off x="6263640" y="3419856"/>
            <a:ext cx="244144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5F7"/>
              </a:buClr>
              <a:buSzPts val="1050"/>
              <a:buFont typeface="Calibri"/>
              <a:buNone/>
            </a:pPr>
            <a:r>
              <a:rPr b="1" i="0" lang="en-US" sz="1350" u="none" cap="none" strike="noStrike">
                <a:solidFill>
                  <a:srgbClr val="A855F7"/>
                </a:solidFill>
                <a:latin typeface="Calibri"/>
                <a:ea typeface="Calibri"/>
                <a:cs typeface="Calibri"/>
                <a:sym typeface="Calibri"/>
              </a:rPr>
              <a:t>METRICS ANALYSIS PATH</a:t>
            </a:r>
            <a:endParaRPr b="0" i="0" sz="1050" u="none" cap="none" strike="noStrike">
              <a:solidFill>
                <a:schemeClr val="dk1"/>
              </a:solidFill>
              <a:latin typeface="Calibri"/>
              <a:ea typeface="Calibri"/>
              <a:cs typeface="Calibri"/>
              <a:sym typeface="Calibri"/>
            </a:endParaRPr>
          </a:p>
        </p:txBody>
      </p:sp>
      <p:sp>
        <p:nvSpPr>
          <p:cNvPr id="60" name="Google Shape;60;p3"/>
          <p:cNvSpPr/>
          <p:nvPr/>
        </p:nvSpPr>
        <p:spPr>
          <a:xfrm>
            <a:off x="6263640" y="3749040"/>
            <a:ext cx="2441448" cy="8869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8E4F0"/>
              </a:buClr>
              <a:buSzPts val="1000"/>
              <a:buFont typeface="Calibri"/>
              <a:buNone/>
            </a:pPr>
            <a:r>
              <a:rPr b="0" i="0" lang="en-US" sz="1300" u="none" cap="none" strike="noStrike">
                <a:solidFill>
                  <a:srgbClr val="D8E4F0"/>
                </a:solidFill>
                <a:latin typeface="Calibri"/>
                <a:ea typeface="Calibri"/>
                <a:cs typeface="Calibri"/>
                <a:sym typeface="Calibri"/>
              </a:rPr>
              <a:t>Feed a model.yaml into generate-metrics-from-model to automatically rank every metric and dimension combination by analytical value.</a:t>
            </a:r>
            <a:endParaRPr b="0" i="0" sz="1000" u="none" cap="none" strike="noStrike">
              <a:solidFill>
                <a:schemeClr val="dk1"/>
              </a:solidFill>
              <a:latin typeface="Calibri"/>
              <a:ea typeface="Calibri"/>
              <a:cs typeface="Calibri"/>
              <a:sym typeface="Calibri"/>
            </a:endParaRPr>
          </a:p>
        </p:txBody>
      </p:sp>
      <p:sp>
        <p:nvSpPr>
          <p:cNvPr id="61" name="Google Shape;61;p3"/>
          <p:cNvSpPr/>
          <p:nvPr/>
        </p:nvSpPr>
        <p:spPr>
          <a:xfrm>
            <a:off x="0" y="4892040"/>
            <a:ext cx="9144000" cy="251460"/>
          </a:xfrm>
          <a:prstGeom prst="rect">
            <a:avLst/>
          </a:prstGeom>
          <a:solidFill>
            <a:srgbClr val="132D4F"/>
          </a:solidFill>
          <a:ln cap="flat" cmpd="sng" w="12700">
            <a:solidFill>
              <a:srgbClr val="132D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62" name="Google Shape;62;p3"/>
          <p:cNvSpPr/>
          <p:nvPr/>
        </p:nvSpPr>
        <p:spPr>
          <a:xfrm>
            <a:off x="1645920" y="4892040"/>
            <a:ext cx="7315200" cy="2514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A8C4"/>
              </a:buClr>
              <a:buSzPts val="750"/>
              <a:buFont typeface="Calibri"/>
              <a:buNone/>
            </a:pPr>
            <a:r>
              <a:rPr b="0" i="0" lang="en-US" sz="1150" u="none" cap="none" strike="noStrike">
                <a:solidFill>
                  <a:srgbClr val="8BA8C4"/>
                </a:solidFill>
                <a:latin typeface="Calibri"/>
                <a:ea typeface="Calibri"/>
                <a:cs typeface="Calibri"/>
                <a:sym typeface="Calibri"/>
              </a:rPr>
              <a:t>PS Template Workflow Tutorials  ·  Track 2 of 4</a:t>
            </a:r>
            <a:endParaRPr b="0" i="0" sz="750" u="none" cap="none" strike="noStrike">
              <a:solidFill>
                <a:schemeClr val="dk1"/>
              </a:solidFill>
              <a:latin typeface="Calibri"/>
              <a:ea typeface="Calibri"/>
              <a:cs typeface="Calibri"/>
              <a:sym typeface="Calibri"/>
            </a:endParaRPr>
          </a:p>
        </p:txBody>
      </p:sp>
      <p:pic>
        <p:nvPicPr>
          <p:cNvPr descr="/tmp/atscale_logo.svg" id="63" name="Google Shape;63;p3"/>
          <p:cNvPicPr preferRelativeResize="0"/>
          <p:nvPr/>
        </p:nvPicPr>
        <p:blipFill rotWithShape="1">
          <a:blip r:embed="rId4">
            <a:alphaModFix/>
          </a:blip>
          <a:srcRect b="0" l="0" r="0" t="0"/>
          <a:stretch/>
        </p:blipFill>
        <p:spPr>
          <a:xfrm>
            <a:off x="228600" y="4924044"/>
            <a:ext cx="1188717" cy="15544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4"/>
          <p:cNvSpPr/>
          <p:nvPr/>
        </p:nvSpPr>
        <p:spPr>
          <a:xfrm>
            <a:off x="0" y="0"/>
            <a:ext cx="9141900" cy="5143500"/>
          </a:xfrm>
          <a:prstGeom prst="rect">
            <a:avLst/>
          </a:prstGeom>
          <a:solidFill>
            <a:srgbClr val="0B1F36"/>
          </a:solidFill>
          <a:ln cap="flat" cmpd="sng" w="9525">
            <a:solidFill>
              <a:srgbClr val="0B1F3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rPr/>
              <a:t/>
            </a:r>
            <a:endParaRPr/>
          </a:p>
        </p:txBody>
      </p:sp>
      <p:sp>
        <p:nvSpPr>
          <p:cNvPr id="70" name="Google Shape;70;p4"/>
          <p:cNvSpPr/>
          <p:nvPr/>
        </p:nvSpPr>
        <p:spPr>
          <a:xfrm>
            <a:off x="0" y="0"/>
            <a:ext cx="41100" cy="5143500"/>
          </a:xfrm>
          <a:prstGeom prst="rect">
            <a:avLst/>
          </a:prstGeom>
          <a:solidFill>
            <a:srgbClr val="00B4D8"/>
          </a:solidFill>
          <a:ln cap="flat" cmpd="sng" w="9525">
            <a:solidFill>
              <a:srgbClr val="00B4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rPr/>
              <a:t/>
            </a:r>
            <a:endParaRPr/>
          </a:p>
        </p:txBody>
      </p:sp>
      <p:sp>
        <p:nvSpPr>
          <p:cNvPr id="71" name="Google Shape;71;p4"/>
          <p:cNvSpPr/>
          <p:nvPr/>
        </p:nvSpPr>
        <p:spPr>
          <a:xfrm>
            <a:off x="171450" y="150876"/>
            <a:ext cx="5486400" cy="192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7BA7C0"/>
              </a:buClr>
              <a:buSzPts val="600"/>
              <a:buFont typeface="Calibri"/>
              <a:buNone/>
            </a:pPr>
            <a:r>
              <a:rPr b="1" i="0" lang="en-US" sz="1000" u="none" cap="none" strike="noStrike">
                <a:solidFill>
                  <a:srgbClr val="7BA7C0"/>
                </a:solidFill>
                <a:latin typeface="Calibri"/>
                <a:ea typeface="Calibri"/>
                <a:cs typeface="Calibri"/>
                <a:sym typeface="Calibri"/>
              </a:rPr>
              <a:t>SML CREATION &amp; MANIPULATION  //  TRACK OVERVIEW</a:t>
            </a:r>
            <a:endParaRPr b="0" i="0" sz="600" u="none" cap="none" strike="noStrike">
              <a:solidFill>
                <a:schemeClr val="dk1"/>
              </a:solidFill>
              <a:latin typeface="Calibri"/>
              <a:ea typeface="Calibri"/>
              <a:cs typeface="Calibri"/>
              <a:sym typeface="Calibri"/>
            </a:endParaRPr>
          </a:p>
        </p:txBody>
      </p:sp>
      <p:sp>
        <p:nvSpPr>
          <p:cNvPr id="72" name="Google Shape;72;p4"/>
          <p:cNvSpPr/>
          <p:nvPr/>
        </p:nvSpPr>
        <p:spPr>
          <a:xfrm>
            <a:off x="171450" y="377190"/>
            <a:ext cx="1783200" cy="973800"/>
          </a:xfrm>
          <a:prstGeom prst="rect">
            <a:avLst/>
          </a:prstGeom>
          <a:noFill/>
          <a:ln>
            <a:noFill/>
          </a:ln>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Why Automate</a:t>
            </a:r>
            <a:endParaRPr b="0" i="0" sz="20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This Workflow?</a:t>
            </a:r>
            <a:endParaRPr b="0" i="0" sz="2000" u="none" cap="none" strike="noStrike">
              <a:solidFill>
                <a:schemeClr val="dk1"/>
              </a:solidFill>
              <a:latin typeface="Calibri"/>
              <a:ea typeface="Calibri"/>
              <a:cs typeface="Calibri"/>
              <a:sym typeface="Calibri"/>
            </a:endParaRPr>
          </a:p>
        </p:txBody>
      </p:sp>
      <p:sp>
        <p:nvSpPr>
          <p:cNvPr id="73" name="Google Shape;73;p4"/>
          <p:cNvSpPr/>
          <p:nvPr/>
        </p:nvSpPr>
        <p:spPr>
          <a:xfrm>
            <a:off x="171450" y="1581912"/>
            <a:ext cx="1783200" cy="651600"/>
          </a:xfrm>
          <a:prstGeom prst="rect">
            <a:avLst/>
          </a:prstGeom>
          <a:noFill/>
          <a:ln>
            <a:noFill/>
          </a:ln>
        </p:spPr>
        <p:txBody>
          <a:bodyPr anchorCtr="0" anchor="ctr" bIns="34275" lIns="68575" spcFirstLastPara="1" rIns="68575" wrap="square" tIns="34275">
            <a:noAutofit/>
          </a:bodyPr>
          <a:lstStyle/>
          <a:p>
            <a:pPr indent="0" lvl="0" marL="0" marR="0" rtl="0" algn="l">
              <a:lnSpc>
                <a:spcPct val="145000"/>
              </a:lnSpc>
              <a:spcBef>
                <a:spcPts val="0"/>
              </a:spcBef>
              <a:spcAft>
                <a:spcPts val="0"/>
              </a:spcAft>
              <a:buClr>
                <a:srgbClr val="D0E8F2"/>
              </a:buClr>
              <a:buSzPts val="700"/>
              <a:buFont typeface="Calibri"/>
              <a:buNone/>
            </a:pPr>
            <a:r>
              <a:rPr b="0" i="0" lang="en-US" sz="1100" u="none" cap="none" strike="noStrike">
                <a:solidFill>
                  <a:srgbClr val="D0E8F2"/>
                </a:solidFill>
                <a:latin typeface="Calibri"/>
                <a:ea typeface="Calibri"/>
                <a:cs typeface="Calibri"/>
                <a:sym typeface="Calibri"/>
              </a:rPr>
              <a:t>Building a semantic model manually is slow, </a:t>
            </a:r>
            <a:r>
              <a:rPr lang="en-US" sz="1100">
                <a:solidFill>
                  <a:srgbClr val="D0E8F2"/>
                </a:solidFill>
                <a:latin typeface="Calibri"/>
                <a:ea typeface="Calibri"/>
                <a:cs typeface="Calibri"/>
                <a:sym typeface="Calibri"/>
              </a:rPr>
              <a:t>a</a:t>
            </a:r>
            <a:r>
              <a:rPr b="0" i="0" lang="en-US" sz="1100" u="none" cap="none" strike="noStrike">
                <a:solidFill>
                  <a:srgbClr val="D0E8F2"/>
                </a:solidFill>
                <a:latin typeface="Calibri"/>
                <a:ea typeface="Calibri"/>
                <a:cs typeface="Calibri"/>
                <a:sym typeface="Calibri"/>
              </a:rPr>
              <a:t>nd error-prone. The PS Utils CLI automates every stage: from raw schema to ranked metric suggestions.</a:t>
            </a:r>
            <a:endParaRPr b="0" i="0" sz="700" u="none" cap="none" strike="noStrike">
              <a:solidFill>
                <a:schemeClr val="dk1"/>
              </a:solidFill>
              <a:latin typeface="Calibri"/>
              <a:ea typeface="Calibri"/>
              <a:cs typeface="Calibri"/>
              <a:sym typeface="Calibri"/>
            </a:endParaRPr>
          </a:p>
        </p:txBody>
      </p:sp>
      <p:sp>
        <p:nvSpPr>
          <p:cNvPr id="74" name="Google Shape;74;p4"/>
          <p:cNvSpPr/>
          <p:nvPr/>
        </p:nvSpPr>
        <p:spPr>
          <a:xfrm>
            <a:off x="171450" y="2231136"/>
            <a:ext cx="1783200" cy="2619600"/>
          </a:xfrm>
          <a:prstGeom prst="rect">
            <a:avLst/>
          </a:prstGeom>
          <a:solidFill>
            <a:srgbClr val="0F2B42"/>
          </a:solidFill>
          <a:ln cap="flat" cmpd="sng" w="14300">
            <a:solidFill>
              <a:srgbClr val="00B4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rPr/>
              <a:t/>
            </a:r>
            <a:endParaRPr/>
          </a:p>
        </p:txBody>
      </p:sp>
      <p:sp>
        <p:nvSpPr>
          <p:cNvPr id="75" name="Google Shape;75;p4"/>
          <p:cNvSpPr/>
          <p:nvPr/>
        </p:nvSpPr>
        <p:spPr>
          <a:xfrm>
            <a:off x="171450" y="2231136"/>
            <a:ext cx="1783200" cy="48000"/>
          </a:xfrm>
          <a:prstGeom prst="rect">
            <a:avLst/>
          </a:prstGeom>
          <a:solidFill>
            <a:srgbClr val="00B4D8"/>
          </a:solidFill>
          <a:ln cap="flat" cmpd="sng" w="9525">
            <a:solidFill>
              <a:srgbClr val="00B4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rPr/>
              <a:t/>
            </a:r>
            <a:endParaRPr/>
          </a:p>
        </p:txBody>
      </p:sp>
      <p:sp>
        <p:nvSpPr>
          <p:cNvPr id="76" name="Google Shape;76;p4"/>
          <p:cNvSpPr/>
          <p:nvPr/>
        </p:nvSpPr>
        <p:spPr>
          <a:xfrm>
            <a:off x="171450" y="2607868"/>
            <a:ext cx="1783200" cy="137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0B4D8"/>
              </a:buClr>
              <a:buSzPts val="7200"/>
              <a:buFont typeface="Calibri"/>
              <a:buNone/>
            </a:pPr>
            <a:r>
              <a:rPr b="1" i="0" lang="en-US" sz="7200" u="none" cap="none" strike="noStrike">
                <a:solidFill>
                  <a:srgbClr val="00B4D8"/>
                </a:solidFill>
                <a:latin typeface="Calibri"/>
                <a:ea typeface="Calibri"/>
                <a:cs typeface="Calibri"/>
                <a:sym typeface="Calibri"/>
              </a:rPr>
              <a:t>70%</a:t>
            </a:r>
            <a:endParaRPr b="0" i="0" sz="7200" u="none" cap="none" strike="noStrike">
              <a:solidFill>
                <a:schemeClr val="dk1"/>
              </a:solidFill>
              <a:latin typeface="Calibri"/>
              <a:ea typeface="Calibri"/>
              <a:cs typeface="Calibri"/>
              <a:sym typeface="Calibri"/>
            </a:endParaRPr>
          </a:p>
        </p:txBody>
      </p:sp>
      <p:sp>
        <p:nvSpPr>
          <p:cNvPr id="77" name="Google Shape;77;p4"/>
          <p:cNvSpPr/>
          <p:nvPr/>
        </p:nvSpPr>
        <p:spPr>
          <a:xfrm>
            <a:off x="171450" y="4096512"/>
            <a:ext cx="1783200" cy="603600"/>
          </a:xfrm>
          <a:prstGeom prst="rect">
            <a:avLst/>
          </a:prstGeom>
          <a:noFill/>
          <a:ln>
            <a:noFill/>
          </a:ln>
        </p:spPr>
        <p:txBody>
          <a:bodyPr anchorCtr="0" anchor="ctr" bIns="34275" lIns="68575" spcFirstLastPara="1" rIns="68575" wrap="square" tIns="34275">
            <a:noAutofit/>
          </a:bodyPr>
          <a:lstStyle/>
          <a:p>
            <a:pPr indent="0" lvl="0" marL="0" marR="0" rtl="0" algn="ctr">
              <a:lnSpc>
                <a:spcPct val="140000"/>
              </a:lnSpc>
              <a:spcBef>
                <a:spcPts val="0"/>
              </a:spcBef>
              <a:spcAft>
                <a:spcPts val="0"/>
              </a:spcAft>
              <a:buClr>
                <a:srgbClr val="D0E8F2"/>
              </a:buClr>
              <a:buSzPts val="800"/>
              <a:buFont typeface="Calibri"/>
              <a:buNone/>
            </a:pPr>
            <a:r>
              <a:rPr b="0" i="0" lang="en-US" sz="1200" u="none" cap="none" strike="noStrike">
                <a:solidFill>
                  <a:srgbClr val="D0E8F2"/>
                </a:solidFill>
                <a:latin typeface="Calibri"/>
                <a:ea typeface="Calibri"/>
                <a:cs typeface="Calibri"/>
                <a:sym typeface="Calibri"/>
              </a:rPr>
              <a:t>of implementation work</a:t>
            </a:r>
            <a:endParaRPr b="0" i="0" sz="800" u="none" cap="none" strike="noStrike">
              <a:solidFill>
                <a:schemeClr val="dk1"/>
              </a:solidFill>
              <a:latin typeface="Calibri"/>
              <a:ea typeface="Calibri"/>
              <a:cs typeface="Calibri"/>
              <a:sym typeface="Calibri"/>
            </a:endParaRPr>
          </a:p>
          <a:p>
            <a:pPr indent="0" lvl="0" marL="0" marR="0" rtl="0" algn="ctr">
              <a:lnSpc>
                <a:spcPct val="140000"/>
              </a:lnSpc>
              <a:spcBef>
                <a:spcPts val="0"/>
              </a:spcBef>
              <a:spcAft>
                <a:spcPts val="0"/>
              </a:spcAft>
              <a:buClr>
                <a:srgbClr val="D0E8F2"/>
              </a:buClr>
              <a:buSzPts val="800"/>
              <a:buFont typeface="Calibri"/>
              <a:buNone/>
            </a:pPr>
            <a:r>
              <a:rPr b="0" i="0" lang="en-US" sz="1200" u="none" cap="none" strike="noStrike">
                <a:solidFill>
                  <a:srgbClr val="D0E8F2"/>
                </a:solidFill>
                <a:latin typeface="Calibri"/>
                <a:ea typeface="Calibri"/>
                <a:cs typeface="Calibri"/>
                <a:sym typeface="Calibri"/>
              </a:rPr>
              <a:t>automated from CLI</a:t>
            </a:r>
            <a:endParaRPr b="0" i="0" sz="800" u="none" cap="none" strike="noStrike">
              <a:solidFill>
                <a:schemeClr val="dk1"/>
              </a:solidFill>
              <a:latin typeface="Calibri"/>
              <a:ea typeface="Calibri"/>
              <a:cs typeface="Calibri"/>
              <a:sym typeface="Calibri"/>
            </a:endParaRPr>
          </a:p>
        </p:txBody>
      </p:sp>
      <p:sp>
        <p:nvSpPr>
          <p:cNvPr id="78" name="Google Shape;78;p4"/>
          <p:cNvSpPr/>
          <p:nvPr/>
        </p:nvSpPr>
        <p:spPr>
          <a:xfrm>
            <a:off x="2071116" y="397764"/>
            <a:ext cx="2224500" cy="4389000"/>
          </a:xfrm>
          <a:prstGeom prst="rect">
            <a:avLst/>
          </a:prstGeom>
          <a:solidFill>
            <a:srgbClr val="0F2B42"/>
          </a:solidFill>
          <a:ln cap="flat" cmpd="sng" w="9525">
            <a:solidFill>
              <a:srgbClr val="00B4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rPr/>
              <a:t/>
            </a:r>
            <a:endParaRPr/>
          </a:p>
        </p:txBody>
      </p:sp>
      <p:sp>
        <p:nvSpPr>
          <p:cNvPr id="79" name="Google Shape;79;p4"/>
          <p:cNvSpPr/>
          <p:nvPr/>
        </p:nvSpPr>
        <p:spPr>
          <a:xfrm>
            <a:off x="2071116" y="397764"/>
            <a:ext cx="2224500" cy="54900"/>
          </a:xfrm>
          <a:prstGeom prst="rect">
            <a:avLst/>
          </a:prstGeom>
          <a:solidFill>
            <a:srgbClr val="00B4D8"/>
          </a:solidFill>
          <a:ln cap="flat" cmpd="sng" w="9525">
            <a:solidFill>
              <a:srgbClr val="00B4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rPr/>
              <a:t/>
            </a:r>
            <a:endParaRPr/>
          </a:p>
        </p:txBody>
      </p:sp>
      <p:sp>
        <p:nvSpPr>
          <p:cNvPr id="80" name="Google Shape;80;p4"/>
          <p:cNvSpPr/>
          <p:nvPr/>
        </p:nvSpPr>
        <p:spPr>
          <a:xfrm>
            <a:off x="2194560" y="534924"/>
            <a:ext cx="857400" cy="185100"/>
          </a:xfrm>
          <a:prstGeom prst="rect">
            <a:avLst/>
          </a:prstGeom>
          <a:solidFill>
            <a:srgbClr val="163450"/>
          </a:solidFill>
          <a:ln cap="flat" cmpd="sng" w="7150">
            <a:solidFill>
              <a:srgbClr val="00B4D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rPr/>
              <a:t/>
            </a:r>
            <a:endParaRPr/>
          </a:p>
        </p:txBody>
      </p:sp>
      <p:sp>
        <p:nvSpPr>
          <p:cNvPr id="81" name="Google Shape;81;p4"/>
          <p:cNvSpPr/>
          <p:nvPr/>
        </p:nvSpPr>
        <p:spPr>
          <a:xfrm>
            <a:off x="2194560" y="534924"/>
            <a:ext cx="857400" cy="185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0B4D8"/>
              </a:buClr>
              <a:buSzPts val="600"/>
              <a:buFont typeface="Calibri"/>
              <a:buNone/>
            </a:pPr>
            <a:r>
              <a:rPr b="1" i="0" lang="en-US" sz="1000" u="none" cap="none" strike="noStrike">
                <a:solidFill>
                  <a:srgbClr val="00B4D8"/>
                </a:solidFill>
                <a:latin typeface="Calibri"/>
                <a:ea typeface="Calibri"/>
                <a:cs typeface="Calibri"/>
                <a:sym typeface="Calibri"/>
              </a:rPr>
              <a:t>SPEED</a:t>
            </a:r>
            <a:endParaRPr b="0" i="0" sz="600" u="none" cap="none" strike="noStrike">
              <a:solidFill>
                <a:schemeClr val="dk1"/>
              </a:solidFill>
              <a:latin typeface="Calibri"/>
              <a:ea typeface="Calibri"/>
              <a:cs typeface="Calibri"/>
              <a:sym typeface="Calibri"/>
            </a:endParaRPr>
          </a:p>
        </p:txBody>
      </p:sp>
      <p:sp>
        <p:nvSpPr>
          <p:cNvPr id="82" name="Google Shape;82;p4"/>
          <p:cNvSpPr/>
          <p:nvPr/>
        </p:nvSpPr>
        <p:spPr>
          <a:xfrm>
            <a:off x="2194560" y="795528"/>
            <a:ext cx="1977300" cy="38400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FFFFFF"/>
              </a:buClr>
              <a:buSzPts val="1200"/>
              <a:buFont typeface="Calibri"/>
              <a:buNone/>
            </a:pPr>
            <a:r>
              <a:rPr b="1" i="0" lang="en-US" sz="1500" u="none" cap="none" strike="noStrike">
                <a:solidFill>
                  <a:srgbClr val="FFFFFF"/>
                </a:solidFill>
                <a:latin typeface="Calibri"/>
                <a:ea typeface="Calibri"/>
                <a:cs typeface="Calibri"/>
                <a:sym typeface="Calibri"/>
              </a:rPr>
              <a:t>From Days to Seconds</a:t>
            </a:r>
            <a:endParaRPr b="0" i="0" sz="1200" u="none" cap="none" strike="noStrike">
              <a:solidFill>
                <a:schemeClr val="dk1"/>
              </a:solidFill>
              <a:latin typeface="Calibri"/>
              <a:ea typeface="Calibri"/>
              <a:cs typeface="Calibri"/>
              <a:sym typeface="Calibri"/>
            </a:endParaRPr>
          </a:p>
        </p:txBody>
      </p:sp>
      <p:sp>
        <p:nvSpPr>
          <p:cNvPr id="83" name="Google Shape;83;p4"/>
          <p:cNvSpPr/>
          <p:nvPr/>
        </p:nvSpPr>
        <p:spPr>
          <a:xfrm>
            <a:off x="2194560" y="1234440"/>
            <a:ext cx="1977300" cy="3415200"/>
          </a:xfrm>
          <a:prstGeom prst="rect">
            <a:avLst/>
          </a:prstGeom>
          <a:noFill/>
          <a:ln>
            <a:noFill/>
          </a:ln>
        </p:spPr>
        <p:txBody>
          <a:bodyPr anchorCtr="0" anchor="t" bIns="34275" lIns="68575" spcFirstLastPara="1" rIns="68575" wrap="square" tIns="34275">
            <a:noAutofit/>
          </a:bodyPr>
          <a:lstStyle/>
          <a:p>
            <a:pPr indent="0" lvl="0" marL="0" marR="0" rtl="0" algn="l">
              <a:lnSpc>
                <a:spcPct val="150000"/>
              </a:lnSpc>
              <a:spcBef>
                <a:spcPts val="0"/>
              </a:spcBef>
              <a:spcAft>
                <a:spcPts val="0"/>
              </a:spcAft>
              <a:buClr>
                <a:srgbClr val="D0E8F2"/>
              </a:buClr>
              <a:buSzPts val="800"/>
              <a:buFont typeface="Calibri"/>
              <a:buNone/>
            </a:pPr>
            <a:r>
              <a:rPr b="0" i="0" lang="en-US" sz="900" u="none" cap="none" strike="noStrike">
                <a:solidFill>
                  <a:srgbClr val="D0E8F2"/>
                </a:solidFill>
                <a:latin typeface="Calibri"/>
                <a:ea typeface="Calibri"/>
                <a:cs typeface="Calibri"/>
                <a:sym typeface="Calibri"/>
              </a:rPr>
              <a:t>Connect to any database and get a complete SML model (datasets, dimensions, relationships, and the model file) in a single command. No manual table-by-table modeling. The inference engine classifies fact vs. dimension, detects composite keys, and wires up FK relationships automatically.</a:t>
            </a:r>
            <a:endParaRPr b="0" i="0" sz="800" u="none" cap="none" strike="noStrike">
              <a:solidFill>
                <a:schemeClr val="dk1"/>
              </a:solidFill>
              <a:latin typeface="Calibri"/>
              <a:ea typeface="Calibri"/>
              <a:cs typeface="Calibri"/>
              <a:sym typeface="Calibri"/>
            </a:endParaRPr>
          </a:p>
        </p:txBody>
      </p:sp>
      <p:sp>
        <p:nvSpPr>
          <p:cNvPr id="84" name="Google Shape;84;p4"/>
          <p:cNvSpPr/>
          <p:nvPr/>
        </p:nvSpPr>
        <p:spPr>
          <a:xfrm>
            <a:off x="4377690" y="397764"/>
            <a:ext cx="2224500" cy="4389000"/>
          </a:xfrm>
          <a:prstGeom prst="rect">
            <a:avLst/>
          </a:prstGeom>
          <a:solidFill>
            <a:srgbClr val="0F2B42"/>
          </a:solidFill>
          <a:ln cap="flat" cmpd="sng" w="9525">
            <a:solidFill>
              <a:srgbClr val="2EC27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rPr/>
              <a:t/>
            </a:r>
            <a:endParaRPr/>
          </a:p>
        </p:txBody>
      </p:sp>
      <p:sp>
        <p:nvSpPr>
          <p:cNvPr id="85" name="Google Shape;85;p4"/>
          <p:cNvSpPr/>
          <p:nvPr/>
        </p:nvSpPr>
        <p:spPr>
          <a:xfrm>
            <a:off x="4377690" y="397764"/>
            <a:ext cx="2224500" cy="54900"/>
          </a:xfrm>
          <a:prstGeom prst="rect">
            <a:avLst/>
          </a:prstGeom>
          <a:solidFill>
            <a:srgbClr val="2EC278"/>
          </a:solidFill>
          <a:ln cap="flat" cmpd="sng" w="9525">
            <a:solidFill>
              <a:srgbClr val="2EC27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rPr/>
              <a:t/>
            </a:r>
            <a:endParaRPr/>
          </a:p>
        </p:txBody>
      </p:sp>
      <p:sp>
        <p:nvSpPr>
          <p:cNvPr id="86" name="Google Shape;86;p4"/>
          <p:cNvSpPr/>
          <p:nvPr/>
        </p:nvSpPr>
        <p:spPr>
          <a:xfrm>
            <a:off x="4501134" y="534924"/>
            <a:ext cx="857400" cy="185100"/>
          </a:xfrm>
          <a:prstGeom prst="rect">
            <a:avLst/>
          </a:prstGeom>
          <a:solidFill>
            <a:srgbClr val="163450"/>
          </a:solidFill>
          <a:ln cap="flat" cmpd="sng" w="7150">
            <a:solidFill>
              <a:srgbClr val="2EC27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rPr/>
              <a:t/>
            </a:r>
            <a:endParaRPr/>
          </a:p>
        </p:txBody>
      </p:sp>
      <p:sp>
        <p:nvSpPr>
          <p:cNvPr id="87" name="Google Shape;87;p4"/>
          <p:cNvSpPr/>
          <p:nvPr/>
        </p:nvSpPr>
        <p:spPr>
          <a:xfrm>
            <a:off x="4501134" y="534924"/>
            <a:ext cx="857400" cy="185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2EC278"/>
              </a:buClr>
              <a:buSzPts val="600"/>
              <a:buFont typeface="Calibri"/>
              <a:buNone/>
            </a:pPr>
            <a:r>
              <a:rPr b="1" i="0" lang="en-US" sz="1000" u="none" cap="none" strike="noStrike">
                <a:solidFill>
                  <a:srgbClr val="2EC278"/>
                </a:solidFill>
                <a:latin typeface="Calibri"/>
                <a:ea typeface="Calibri"/>
                <a:cs typeface="Calibri"/>
                <a:sym typeface="Calibri"/>
              </a:rPr>
              <a:t>STANDARDS</a:t>
            </a:r>
            <a:endParaRPr b="0" i="0" sz="600" u="none" cap="none" strike="noStrike">
              <a:solidFill>
                <a:schemeClr val="dk1"/>
              </a:solidFill>
              <a:latin typeface="Calibri"/>
              <a:ea typeface="Calibri"/>
              <a:cs typeface="Calibri"/>
              <a:sym typeface="Calibri"/>
            </a:endParaRPr>
          </a:p>
        </p:txBody>
      </p:sp>
      <p:sp>
        <p:nvSpPr>
          <p:cNvPr id="88" name="Google Shape;88;p4"/>
          <p:cNvSpPr/>
          <p:nvPr/>
        </p:nvSpPr>
        <p:spPr>
          <a:xfrm>
            <a:off x="4501134" y="795528"/>
            <a:ext cx="1977300" cy="38400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FFFFFF"/>
              </a:buClr>
              <a:buSzPts val="1200"/>
              <a:buFont typeface="Calibri"/>
              <a:buNone/>
            </a:pPr>
            <a:r>
              <a:rPr b="1" i="0" lang="en-US" sz="1500" u="none" cap="none" strike="noStrike">
                <a:solidFill>
                  <a:srgbClr val="FFFFFF"/>
                </a:solidFill>
                <a:latin typeface="Calibri"/>
                <a:ea typeface="Calibri"/>
                <a:cs typeface="Calibri"/>
                <a:sym typeface="Calibri"/>
              </a:rPr>
              <a:t>Enforced Coding Standards</a:t>
            </a:r>
            <a:endParaRPr b="0" i="0" sz="1200" u="none" cap="none" strike="noStrike">
              <a:solidFill>
                <a:schemeClr val="dk1"/>
              </a:solidFill>
              <a:latin typeface="Calibri"/>
              <a:ea typeface="Calibri"/>
              <a:cs typeface="Calibri"/>
              <a:sym typeface="Calibri"/>
            </a:endParaRPr>
          </a:p>
        </p:txBody>
      </p:sp>
      <p:sp>
        <p:nvSpPr>
          <p:cNvPr id="89" name="Google Shape;89;p4"/>
          <p:cNvSpPr/>
          <p:nvPr/>
        </p:nvSpPr>
        <p:spPr>
          <a:xfrm>
            <a:off x="4501134" y="1234440"/>
            <a:ext cx="1977300" cy="3415200"/>
          </a:xfrm>
          <a:prstGeom prst="rect">
            <a:avLst/>
          </a:prstGeom>
          <a:noFill/>
          <a:ln>
            <a:noFill/>
          </a:ln>
        </p:spPr>
        <p:txBody>
          <a:bodyPr anchorCtr="0" anchor="t" bIns="34275" lIns="68575" spcFirstLastPara="1" rIns="68575" wrap="square" tIns="34275">
            <a:noAutofit/>
          </a:bodyPr>
          <a:lstStyle/>
          <a:p>
            <a:pPr indent="0" lvl="0" marL="0" marR="0" rtl="0" algn="l">
              <a:lnSpc>
                <a:spcPct val="150000"/>
              </a:lnSpc>
              <a:spcBef>
                <a:spcPts val="0"/>
              </a:spcBef>
              <a:spcAft>
                <a:spcPts val="0"/>
              </a:spcAft>
              <a:buClr>
                <a:srgbClr val="D0E8F2"/>
              </a:buClr>
              <a:buSzPts val="800"/>
              <a:buFont typeface="Calibri"/>
              <a:buNone/>
            </a:pPr>
            <a:r>
              <a:rPr b="0" i="0" lang="en-US" sz="900" u="none" cap="none" strike="noStrike">
                <a:solidFill>
                  <a:srgbClr val="D0E8F2"/>
                </a:solidFill>
                <a:latin typeface="Calibri"/>
                <a:ea typeface="Calibri"/>
                <a:cs typeface="Calibri"/>
                <a:sym typeface="Calibri"/>
              </a:rPr>
              <a:t>Every generated model follows the same naming conventions, file layout, and style rules defined in sml.style.yaml. No more inconsistency between projects or engineers. Standards are baked into the tool, not left to individual judgment. Every implementation starts from the same baseline.</a:t>
            </a:r>
            <a:endParaRPr b="0" i="0" sz="800" u="none" cap="none" strike="noStrike">
              <a:solidFill>
                <a:schemeClr val="dk1"/>
              </a:solidFill>
              <a:latin typeface="Calibri"/>
              <a:ea typeface="Calibri"/>
              <a:cs typeface="Calibri"/>
              <a:sym typeface="Calibri"/>
            </a:endParaRPr>
          </a:p>
        </p:txBody>
      </p:sp>
      <p:sp>
        <p:nvSpPr>
          <p:cNvPr id="90" name="Google Shape;90;p4"/>
          <p:cNvSpPr/>
          <p:nvPr/>
        </p:nvSpPr>
        <p:spPr>
          <a:xfrm>
            <a:off x="6684264" y="397764"/>
            <a:ext cx="2224500" cy="4389000"/>
          </a:xfrm>
          <a:prstGeom prst="rect">
            <a:avLst/>
          </a:prstGeom>
          <a:solidFill>
            <a:srgbClr val="0F2B42"/>
          </a:solidFill>
          <a:ln cap="flat" cmpd="sng" w="9525">
            <a:solidFill>
              <a:srgbClr val="F4A26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rPr/>
              <a:t/>
            </a:r>
            <a:endParaRPr/>
          </a:p>
        </p:txBody>
      </p:sp>
      <p:sp>
        <p:nvSpPr>
          <p:cNvPr id="91" name="Google Shape;91;p4"/>
          <p:cNvSpPr/>
          <p:nvPr/>
        </p:nvSpPr>
        <p:spPr>
          <a:xfrm>
            <a:off x="6684264" y="397764"/>
            <a:ext cx="2224500" cy="54900"/>
          </a:xfrm>
          <a:prstGeom prst="rect">
            <a:avLst/>
          </a:prstGeom>
          <a:solidFill>
            <a:srgbClr val="F4A261"/>
          </a:solidFill>
          <a:ln cap="flat" cmpd="sng" w="9525">
            <a:solidFill>
              <a:srgbClr val="F4A26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rPr/>
              <a:t/>
            </a:r>
            <a:endParaRPr/>
          </a:p>
        </p:txBody>
      </p:sp>
      <p:sp>
        <p:nvSpPr>
          <p:cNvPr id="92" name="Google Shape;92;p4"/>
          <p:cNvSpPr/>
          <p:nvPr/>
        </p:nvSpPr>
        <p:spPr>
          <a:xfrm>
            <a:off x="6807708" y="534924"/>
            <a:ext cx="857400" cy="185100"/>
          </a:xfrm>
          <a:prstGeom prst="rect">
            <a:avLst/>
          </a:prstGeom>
          <a:solidFill>
            <a:srgbClr val="163450"/>
          </a:solidFill>
          <a:ln cap="flat" cmpd="sng" w="7150">
            <a:solidFill>
              <a:srgbClr val="F4A26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rPr/>
              <a:t/>
            </a:r>
            <a:endParaRPr/>
          </a:p>
        </p:txBody>
      </p:sp>
      <p:sp>
        <p:nvSpPr>
          <p:cNvPr id="93" name="Google Shape;93;p4"/>
          <p:cNvSpPr/>
          <p:nvPr/>
        </p:nvSpPr>
        <p:spPr>
          <a:xfrm>
            <a:off x="6807708" y="534924"/>
            <a:ext cx="1280160" cy="185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4A261"/>
              </a:buClr>
              <a:buSzPts val="600"/>
              <a:buFont typeface="Calibri"/>
              <a:buNone/>
            </a:pPr>
            <a:r>
              <a:rPr b="1" i="0" lang="en-US" sz="1000" u="none" cap="none" strike="noStrike">
                <a:solidFill>
                  <a:srgbClr val="F4A261"/>
                </a:solidFill>
                <a:latin typeface="Calibri"/>
                <a:ea typeface="Calibri"/>
                <a:cs typeface="Calibri"/>
                <a:sym typeface="Calibri"/>
              </a:rPr>
              <a:t>INTELLIGENCE</a:t>
            </a:r>
            <a:endParaRPr b="0" i="0" sz="600" u="none" cap="none" strike="noStrike">
              <a:solidFill>
                <a:schemeClr val="dk1"/>
              </a:solidFill>
              <a:latin typeface="Calibri"/>
              <a:ea typeface="Calibri"/>
              <a:cs typeface="Calibri"/>
              <a:sym typeface="Calibri"/>
            </a:endParaRPr>
          </a:p>
        </p:txBody>
      </p:sp>
      <p:sp>
        <p:nvSpPr>
          <p:cNvPr id="94" name="Google Shape;94;p4"/>
          <p:cNvSpPr/>
          <p:nvPr/>
        </p:nvSpPr>
        <p:spPr>
          <a:xfrm>
            <a:off x="6807708" y="795528"/>
            <a:ext cx="1977300" cy="38400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FFFFFF"/>
              </a:buClr>
              <a:buSzPts val="1200"/>
              <a:buFont typeface="Calibri"/>
              <a:buNone/>
            </a:pPr>
            <a:r>
              <a:rPr b="1" i="0" lang="en-US" sz="1500" u="none" cap="none" strike="noStrike">
                <a:solidFill>
                  <a:srgbClr val="FFFFFF"/>
                </a:solidFill>
                <a:latin typeface="Calibri"/>
                <a:ea typeface="Calibri"/>
                <a:cs typeface="Calibri"/>
                <a:sym typeface="Calibri"/>
              </a:rPr>
              <a:t>Built-in Intelligence</a:t>
            </a:r>
            <a:endParaRPr b="0" i="0" sz="1200" u="none" cap="none" strike="noStrike">
              <a:solidFill>
                <a:schemeClr val="dk1"/>
              </a:solidFill>
              <a:latin typeface="Calibri"/>
              <a:ea typeface="Calibri"/>
              <a:cs typeface="Calibri"/>
              <a:sym typeface="Calibri"/>
            </a:endParaRPr>
          </a:p>
        </p:txBody>
      </p:sp>
      <p:sp>
        <p:nvSpPr>
          <p:cNvPr id="95" name="Google Shape;95;p4"/>
          <p:cNvSpPr/>
          <p:nvPr/>
        </p:nvSpPr>
        <p:spPr>
          <a:xfrm>
            <a:off x="6807708" y="1234440"/>
            <a:ext cx="1977300" cy="3415200"/>
          </a:xfrm>
          <a:prstGeom prst="rect">
            <a:avLst/>
          </a:prstGeom>
          <a:noFill/>
          <a:ln>
            <a:noFill/>
          </a:ln>
        </p:spPr>
        <p:txBody>
          <a:bodyPr anchorCtr="0" anchor="t" bIns="34275" lIns="68575" spcFirstLastPara="1" rIns="68575" wrap="square" tIns="34275">
            <a:noAutofit/>
          </a:bodyPr>
          <a:lstStyle/>
          <a:p>
            <a:pPr indent="0" lvl="0" marL="0" marR="0" rtl="0" algn="l">
              <a:lnSpc>
                <a:spcPct val="150000"/>
              </a:lnSpc>
              <a:spcBef>
                <a:spcPts val="0"/>
              </a:spcBef>
              <a:spcAft>
                <a:spcPts val="0"/>
              </a:spcAft>
              <a:buClr>
                <a:srgbClr val="D0E8F2"/>
              </a:buClr>
              <a:buSzPts val="800"/>
              <a:buFont typeface="Calibri"/>
              <a:buNone/>
            </a:pPr>
            <a:r>
              <a:rPr b="0" i="0" lang="en-US" sz="900" u="none" cap="none" strike="noStrike">
                <a:solidFill>
                  <a:srgbClr val="D0E8F2"/>
                </a:solidFill>
                <a:latin typeface="Calibri"/>
                <a:ea typeface="Calibri"/>
                <a:cs typeface="Calibri"/>
                <a:sym typeface="Calibri"/>
              </a:rPr>
              <a:t>The metric scoring engine reads your live AtScale model, evaluates every metric-dimension combination, and ranks the highest-value analyses. The shared-model-plan engine compares multiple SML projects and generates concrete consolidation options, turning weeks of architectural review into an automated recommendation.</a:t>
            </a:r>
            <a:endParaRPr b="0" i="0" sz="800" u="none" cap="none" strike="noStrike">
              <a:solidFill>
                <a:schemeClr val="dk1"/>
              </a:solidFill>
              <a:latin typeface="Calibri"/>
              <a:ea typeface="Calibri"/>
              <a:cs typeface="Calibri"/>
              <a:sym typeface="Calibri"/>
            </a:endParaRPr>
          </a:p>
        </p:txBody>
      </p:sp>
      <p:sp>
        <p:nvSpPr>
          <p:cNvPr id="96" name="Google Shape;96;p4"/>
          <p:cNvSpPr/>
          <p:nvPr/>
        </p:nvSpPr>
        <p:spPr>
          <a:xfrm>
            <a:off x="0" y="4855464"/>
            <a:ext cx="9141900" cy="288000"/>
          </a:xfrm>
          <a:prstGeom prst="rect">
            <a:avLst/>
          </a:prstGeom>
          <a:solidFill>
            <a:srgbClr val="061524"/>
          </a:solidFill>
          <a:ln cap="flat" cmpd="sng" w="9525">
            <a:solidFill>
              <a:srgbClr val="06152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rPr/>
              <a:t/>
            </a:r>
            <a:endParaRPr/>
          </a:p>
        </p:txBody>
      </p:sp>
      <p:sp>
        <p:nvSpPr>
          <p:cNvPr id="97" name="Google Shape;97;p4"/>
          <p:cNvSpPr/>
          <p:nvPr/>
        </p:nvSpPr>
        <p:spPr>
          <a:xfrm>
            <a:off x="171450" y="4882896"/>
            <a:ext cx="8799000" cy="233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7BA7C0"/>
              </a:buClr>
              <a:buSzPts val="600"/>
              <a:buFont typeface="Calibri"/>
              <a:buNone/>
            </a:pPr>
            <a:r>
              <a:rPr b="0" i="0" lang="en-US" sz="1000" u="none" cap="none" strike="noStrike">
                <a:solidFill>
                  <a:srgbClr val="7BA7C0"/>
                </a:solidFill>
                <a:latin typeface="Calibri"/>
                <a:ea typeface="Calibri"/>
                <a:cs typeface="Calibri"/>
                <a:sym typeface="Calibri"/>
              </a:rPr>
              <a:t>10 CLI operations  ·  works with Snowflake, BigQuery, Databricks  ·  Git-native SML output  ·  zero manual modeling required</a:t>
            </a:r>
            <a:endParaRPr b="0" i="0" sz="600" u="none" cap="none" strike="noStrike">
              <a:solidFill>
                <a:schemeClr val="dk1"/>
              </a:solidFill>
              <a:latin typeface="Calibri"/>
              <a:ea typeface="Calibri"/>
              <a:cs typeface="Calibri"/>
              <a:sym typeface="Calibri"/>
            </a:endParaRPr>
          </a:p>
        </p:txBody>
      </p:sp>
      <p:pic>
        <p:nvPicPr>
          <p:cNvPr descr="/tmp/atscale_logo.svg" id="98" name="Google Shape;98;p4"/>
          <p:cNvPicPr preferRelativeResize="0"/>
          <p:nvPr/>
        </p:nvPicPr>
        <p:blipFill rotWithShape="1">
          <a:blip r:embed="rId3">
            <a:alphaModFix/>
          </a:blip>
          <a:srcRect b="0" l="0" r="0" t="0"/>
          <a:stretch/>
        </p:blipFill>
        <p:spPr>
          <a:xfrm>
            <a:off x="228600" y="4924044"/>
            <a:ext cx="1188717" cy="15544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6"/>
        </a:solidFill>
      </p:bgPr>
    </p:bg>
    <p:spTree>
      <p:nvGrpSpPr>
        <p:cNvPr id="103" name="Shape 103"/>
        <p:cNvGrpSpPr/>
        <p:nvPr/>
      </p:nvGrpSpPr>
      <p:grpSpPr>
        <a:xfrm>
          <a:off x="0" y="0"/>
          <a:ext cx="0" cy="0"/>
          <a:chOff x="0" y="0"/>
          <a:chExt cx="0" cy="0"/>
        </a:xfrm>
      </p:grpSpPr>
      <p:sp>
        <p:nvSpPr>
          <p:cNvPr id="104" name="Google Shape;104;p5"/>
          <p:cNvSpPr/>
          <p:nvPr/>
        </p:nvSpPr>
        <p:spPr>
          <a:xfrm>
            <a:off x="0" y="0"/>
            <a:ext cx="9144000" cy="50292"/>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05" name="Google Shape;105;p5"/>
          <p:cNvSpPr/>
          <p:nvPr/>
        </p:nvSpPr>
        <p:spPr>
          <a:xfrm>
            <a:off x="0" y="50292"/>
            <a:ext cx="9144000" cy="822960"/>
          </a:xfrm>
          <a:prstGeom prst="rect">
            <a:avLst/>
          </a:prstGeom>
          <a:solidFill>
            <a:srgbClr val="132D4F"/>
          </a:solidFill>
          <a:ln cap="flat" cmpd="sng" w="12700">
            <a:solidFill>
              <a:srgbClr val="132D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06" name="Google Shape;106;p5"/>
          <p:cNvSpPr/>
          <p:nvPr/>
        </p:nvSpPr>
        <p:spPr>
          <a:xfrm>
            <a:off x="457200" y="91440"/>
            <a:ext cx="777240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Calibri"/>
              <a:buNone/>
            </a:pPr>
            <a:r>
              <a:rPr b="1" i="0" lang="en-US" sz="3400" u="none" cap="none" strike="noStrike">
                <a:solidFill>
                  <a:srgbClr val="FFFFFF"/>
                </a:solidFill>
                <a:latin typeface="Calibri"/>
                <a:ea typeface="Calibri"/>
                <a:cs typeface="Calibri"/>
                <a:sym typeface="Calibri"/>
              </a:rPr>
              <a:t>Four Things This Track Covers</a:t>
            </a:r>
            <a:endParaRPr b="0" i="0" sz="3000" u="none" cap="none" strike="noStrike">
              <a:solidFill>
                <a:schemeClr val="dk1"/>
              </a:solidFill>
              <a:latin typeface="Calibri"/>
              <a:ea typeface="Calibri"/>
              <a:cs typeface="Calibri"/>
              <a:sym typeface="Calibri"/>
            </a:endParaRPr>
          </a:p>
        </p:txBody>
      </p:sp>
      <p:sp>
        <p:nvSpPr>
          <p:cNvPr id="107" name="Google Shape;107;p5"/>
          <p:cNvSpPr/>
          <p:nvPr/>
        </p:nvSpPr>
        <p:spPr>
          <a:xfrm>
            <a:off x="457200" y="594360"/>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4D8"/>
              </a:buClr>
              <a:buSzPts val="800"/>
              <a:buFont typeface="Calibri"/>
              <a:buNone/>
            </a:pPr>
            <a:r>
              <a:rPr b="1" i="0" lang="en-US" sz="1300" u="none" cap="none" strike="noStrike">
                <a:solidFill>
                  <a:srgbClr val="00B4D8"/>
                </a:solidFill>
                <a:latin typeface="Calibri"/>
                <a:ea typeface="Calibri"/>
                <a:cs typeface="Calibri"/>
                <a:sym typeface="Calibri"/>
              </a:rPr>
              <a:t>TRACK 2  ·  SML CREATION &amp; MANIPULATION</a:t>
            </a:r>
            <a:endParaRPr b="0" i="0" sz="800" u="none" cap="none" strike="noStrike">
              <a:solidFill>
                <a:schemeClr val="dk1"/>
              </a:solidFill>
              <a:latin typeface="Calibri"/>
              <a:ea typeface="Calibri"/>
              <a:cs typeface="Calibri"/>
              <a:sym typeface="Calibri"/>
            </a:endParaRPr>
          </a:p>
        </p:txBody>
      </p:sp>
      <p:sp>
        <p:nvSpPr>
          <p:cNvPr id="108" name="Google Shape;108;p5"/>
          <p:cNvSpPr/>
          <p:nvPr/>
        </p:nvSpPr>
        <p:spPr>
          <a:xfrm>
            <a:off x="274320" y="960120"/>
            <a:ext cx="4160520" cy="612648"/>
          </a:xfrm>
          <a:prstGeom prst="rect">
            <a:avLst/>
          </a:prstGeom>
          <a:solidFill>
            <a:srgbClr val="162840"/>
          </a:solidFill>
          <a:ln cap="flat" cmpd="sng" w="19050">
            <a:solidFill>
              <a:srgbClr val="00B4D8"/>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09" name="Google Shape;109;p5"/>
          <p:cNvSpPr/>
          <p:nvPr/>
        </p:nvSpPr>
        <p:spPr>
          <a:xfrm>
            <a:off x="274320" y="960120"/>
            <a:ext cx="64008" cy="612648"/>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10" name="Google Shape;110;p5"/>
          <p:cNvSpPr/>
          <p:nvPr/>
        </p:nvSpPr>
        <p:spPr>
          <a:xfrm>
            <a:off x="475488" y="1033272"/>
            <a:ext cx="386791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4D8"/>
              </a:buClr>
              <a:buSzPts val="1200"/>
              <a:buFont typeface="Calibri"/>
              <a:buNone/>
            </a:pPr>
            <a:r>
              <a:rPr b="1" i="0" lang="en-US" sz="1600" u="none" cap="none" strike="noStrike">
                <a:solidFill>
                  <a:srgbClr val="00B4D8"/>
                </a:solidFill>
                <a:latin typeface="Calibri"/>
                <a:ea typeface="Calibri"/>
                <a:cs typeface="Calibri"/>
                <a:sym typeface="Calibri"/>
              </a:rPr>
              <a:t>Pull the Schema</a:t>
            </a:r>
            <a:endParaRPr b="0" i="0" sz="1200" u="none" cap="none" strike="noStrike">
              <a:solidFill>
                <a:schemeClr val="dk1"/>
              </a:solidFill>
              <a:latin typeface="Calibri"/>
              <a:ea typeface="Calibri"/>
              <a:cs typeface="Calibri"/>
              <a:sym typeface="Calibri"/>
            </a:endParaRPr>
          </a:p>
        </p:txBody>
      </p:sp>
      <p:sp>
        <p:nvSpPr>
          <p:cNvPr id="111" name="Google Shape;111;p5"/>
          <p:cNvSpPr/>
          <p:nvPr/>
        </p:nvSpPr>
        <p:spPr>
          <a:xfrm>
            <a:off x="475488" y="1280160"/>
            <a:ext cx="3867912"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8E4F0"/>
              </a:buClr>
              <a:buSzPts val="950"/>
              <a:buFont typeface="Calibri"/>
              <a:buNone/>
            </a:pPr>
            <a:r>
              <a:rPr b="0" i="0" lang="en-US" sz="1300" u="none" cap="none" strike="noStrike">
                <a:solidFill>
                  <a:srgbClr val="D8E4F0"/>
                </a:solidFill>
                <a:latin typeface="Calibri"/>
                <a:ea typeface="Calibri"/>
                <a:cs typeface="Calibri"/>
                <a:sym typeface="Calibri"/>
              </a:rPr>
              <a:t>Grab CREATE TABLE statements from a live database or an existing AtScale instance</a:t>
            </a:r>
            <a:endParaRPr b="0" i="0" sz="950" u="none" cap="none" strike="noStrike">
              <a:solidFill>
                <a:schemeClr val="dk1"/>
              </a:solidFill>
              <a:latin typeface="Calibri"/>
              <a:ea typeface="Calibri"/>
              <a:cs typeface="Calibri"/>
              <a:sym typeface="Calibri"/>
            </a:endParaRPr>
          </a:p>
        </p:txBody>
      </p:sp>
      <p:sp>
        <p:nvSpPr>
          <p:cNvPr id="112" name="Google Shape;112;p5"/>
          <p:cNvSpPr/>
          <p:nvPr/>
        </p:nvSpPr>
        <p:spPr>
          <a:xfrm>
            <a:off x="274320" y="1655064"/>
            <a:ext cx="4160520" cy="612648"/>
          </a:xfrm>
          <a:prstGeom prst="rect">
            <a:avLst/>
          </a:prstGeom>
          <a:solidFill>
            <a:srgbClr val="162840"/>
          </a:solidFill>
          <a:ln cap="flat" cmpd="sng" w="19050">
            <a:solidFill>
              <a:srgbClr val="2EC278"/>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13" name="Google Shape;113;p5"/>
          <p:cNvSpPr/>
          <p:nvPr/>
        </p:nvSpPr>
        <p:spPr>
          <a:xfrm>
            <a:off x="274320" y="1655064"/>
            <a:ext cx="64008" cy="612648"/>
          </a:xfrm>
          <a:prstGeom prst="rect">
            <a:avLst/>
          </a:prstGeom>
          <a:solidFill>
            <a:srgbClr val="2EC278"/>
          </a:solidFill>
          <a:ln cap="flat" cmpd="sng" w="12700">
            <a:solidFill>
              <a:srgbClr val="2EC2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14" name="Google Shape;114;p5"/>
          <p:cNvSpPr/>
          <p:nvPr/>
        </p:nvSpPr>
        <p:spPr>
          <a:xfrm>
            <a:off x="475488" y="1728216"/>
            <a:ext cx="386791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C278"/>
              </a:buClr>
              <a:buSzPts val="1200"/>
              <a:buFont typeface="Calibri"/>
              <a:buNone/>
            </a:pPr>
            <a:r>
              <a:rPr b="1" i="0" lang="en-US" sz="1600" u="none" cap="none" strike="noStrike">
                <a:solidFill>
                  <a:srgbClr val="2EC278"/>
                </a:solidFill>
                <a:latin typeface="Calibri"/>
                <a:ea typeface="Calibri"/>
                <a:cs typeface="Calibri"/>
                <a:sym typeface="Calibri"/>
              </a:rPr>
              <a:t>Build the Model</a:t>
            </a:r>
            <a:endParaRPr b="0" i="0" sz="1200" u="none" cap="none" strike="noStrike">
              <a:solidFill>
                <a:schemeClr val="dk1"/>
              </a:solidFill>
              <a:latin typeface="Calibri"/>
              <a:ea typeface="Calibri"/>
              <a:cs typeface="Calibri"/>
              <a:sym typeface="Calibri"/>
            </a:endParaRPr>
          </a:p>
        </p:txBody>
      </p:sp>
      <p:sp>
        <p:nvSpPr>
          <p:cNvPr id="115" name="Google Shape;115;p5"/>
          <p:cNvSpPr/>
          <p:nvPr/>
        </p:nvSpPr>
        <p:spPr>
          <a:xfrm>
            <a:off x="475488" y="1975104"/>
            <a:ext cx="3867912"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8E4F0"/>
              </a:buClr>
              <a:buSzPts val="950"/>
              <a:buFont typeface="Calibri"/>
              <a:buNone/>
            </a:pPr>
            <a:r>
              <a:rPr b="0" i="0" lang="en-US" sz="1300" u="none" cap="none" strike="noStrike">
                <a:solidFill>
                  <a:srgbClr val="D8E4F0"/>
                </a:solidFill>
                <a:latin typeface="Calibri"/>
                <a:ea typeface="Calibri"/>
                <a:cs typeface="Calibri"/>
                <a:sym typeface="Calibri"/>
              </a:rPr>
              <a:t>Generate a complete set of AtScale SML files from a DDL file or a live connection</a:t>
            </a:r>
            <a:endParaRPr b="0" i="0" sz="950" u="none" cap="none" strike="noStrike">
              <a:solidFill>
                <a:schemeClr val="dk1"/>
              </a:solidFill>
              <a:latin typeface="Calibri"/>
              <a:ea typeface="Calibri"/>
              <a:cs typeface="Calibri"/>
              <a:sym typeface="Calibri"/>
            </a:endParaRPr>
          </a:p>
        </p:txBody>
      </p:sp>
      <p:sp>
        <p:nvSpPr>
          <p:cNvPr id="116" name="Google Shape;116;p5"/>
          <p:cNvSpPr/>
          <p:nvPr/>
        </p:nvSpPr>
        <p:spPr>
          <a:xfrm>
            <a:off x="274320" y="2350008"/>
            <a:ext cx="4160520" cy="612648"/>
          </a:xfrm>
          <a:prstGeom prst="rect">
            <a:avLst/>
          </a:prstGeom>
          <a:solidFill>
            <a:srgbClr val="162840"/>
          </a:solidFill>
          <a:ln cap="flat" cmpd="sng" w="19050">
            <a:solidFill>
              <a:srgbClr val="F4A261"/>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17" name="Google Shape;117;p5"/>
          <p:cNvSpPr/>
          <p:nvPr/>
        </p:nvSpPr>
        <p:spPr>
          <a:xfrm>
            <a:off x="274320" y="2350008"/>
            <a:ext cx="64008" cy="612648"/>
          </a:xfrm>
          <a:prstGeom prst="rect">
            <a:avLst/>
          </a:prstGeom>
          <a:solidFill>
            <a:srgbClr val="F4A261"/>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18" name="Google Shape;118;p5"/>
          <p:cNvSpPr/>
          <p:nvPr/>
        </p:nvSpPr>
        <p:spPr>
          <a:xfrm>
            <a:off x="475488" y="2423160"/>
            <a:ext cx="386791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200"/>
              <a:buFont typeface="Calibri"/>
              <a:buNone/>
            </a:pPr>
            <a:r>
              <a:rPr b="1" i="0" lang="en-US" sz="1600" u="none" cap="none" strike="noStrike">
                <a:solidFill>
                  <a:srgbClr val="F4A261"/>
                </a:solidFill>
                <a:latin typeface="Calibri"/>
                <a:ea typeface="Calibri"/>
                <a:cs typeface="Calibri"/>
                <a:sym typeface="Calibri"/>
              </a:rPr>
              <a:t>Spot-check the Data </a:t>
            </a:r>
            <a:r>
              <a:rPr b="1" lang="en-US" sz="1600">
                <a:solidFill>
                  <a:srgbClr val="F4A261"/>
                </a:solidFill>
                <a:latin typeface="Calibri"/>
                <a:ea typeface="Calibri"/>
                <a:cs typeface="Calibri"/>
                <a:sym typeface="Calibri"/>
              </a:rPr>
              <a:t>(EDit)</a:t>
            </a:r>
            <a:endParaRPr b="0" i="0" sz="1200" u="none" cap="none" strike="noStrike">
              <a:solidFill>
                <a:schemeClr val="dk1"/>
              </a:solidFill>
              <a:latin typeface="Calibri"/>
              <a:ea typeface="Calibri"/>
              <a:cs typeface="Calibri"/>
              <a:sym typeface="Calibri"/>
            </a:endParaRPr>
          </a:p>
        </p:txBody>
      </p:sp>
      <p:sp>
        <p:nvSpPr>
          <p:cNvPr id="119" name="Google Shape;119;p5"/>
          <p:cNvSpPr/>
          <p:nvPr/>
        </p:nvSpPr>
        <p:spPr>
          <a:xfrm>
            <a:off x="475488" y="2670048"/>
            <a:ext cx="3867912"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8E4F0"/>
              </a:buClr>
              <a:buSzPts val="950"/>
              <a:buFont typeface="Calibri"/>
              <a:buNone/>
            </a:pPr>
            <a:r>
              <a:rPr b="0" i="0" lang="en-US" sz="1300" u="none" cap="none" strike="noStrike">
                <a:solidFill>
                  <a:srgbClr val="D8E4F0"/>
                </a:solidFill>
                <a:latin typeface="Calibri"/>
                <a:ea typeface="Calibri"/>
                <a:cs typeface="Calibri"/>
                <a:sym typeface="Calibri"/>
              </a:rPr>
              <a:t>Run validation queries or schema checks against any connection you have configured</a:t>
            </a:r>
            <a:endParaRPr b="0" i="0" sz="950" u="none" cap="none" strike="noStrike">
              <a:solidFill>
                <a:schemeClr val="dk1"/>
              </a:solidFill>
              <a:latin typeface="Calibri"/>
              <a:ea typeface="Calibri"/>
              <a:cs typeface="Calibri"/>
              <a:sym typeface="Calibri"/>
            </a:endParaRPr>
          </a:p>
        </p:txBody>
      </p:sp>
      <p:sp>
        <p:nvSpPr>
          <p:cNvPr id="120" name="Google Shape;120;p5"/>
          <p:cNvSpPr/>
          <p:nvPr/>
        </p:nvSpPr>
        <p:spPr>
          <a:xfrm>
            <a:off x="274320" y="3044952"/>
            <a:ext cx="4160520" cy="612648"/>
          </a:xfrm>
          <a:prstGeom prst="rect">
            <a:avLst/>
          </a:prstGeom>
          <a:solidFill>
            <a:srgbClr val="162840"/>
          </a:solidFill>
          <a:ln cap="flat" cmpd="sng" w="19050">
            <a:solidFill>
              <a:srgbClr val="A855F7"/>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21" name="Google Shape;121;p5"/>
          <p:cNvSpPr/>
          <p:nvPr/>
        </p:nvSpPr>
        <p:spPr>
          <a:xfrm>
            <a:off x="274320" y="3044952"/>
            <a:ext cx="64008" cy="612648"/>
          </a:xfrm>
          <a:prstGeom prst="rect">
            <a:avLst/>
          </a:prstGeom>
          <a:solidFill>
            <a:srgbClr val="A855F7"/>
          </a:solidFill>
          <a:ln cap="flat" cmpd="sng" w="12700">
            <a:solidFill>
              <a:srgbClr val="A855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22" name="Google Shape;122;p5"/>
          <p:cNvSpPr/>
          <p:nvPr/>
        </p:nvSpPr>
        <p:spPr>
          <a:xfrm>
            <a:off x="475488" y="3118104"/>
            <a:ext cx="386791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5F7"/>
              </a:buClr>
              <a:buSzPts val="1200"/>
              <a:buFont typeface="Calibri"/>
              <a:buNone/>
            </a:pPr>
            <a:r>
              <a:rPr b="1" i="0" lang="en-US" sz="1600" u="none" cap="none" strike="noStrike">
                <a:solidFill>
                  <a:srgbClr val="A855F7"/>
                </a:solidFill>
                <a:latin typeface="Calibri"/>
                <a:ea typeface="Calibri"/>
                <a:cs typeface="Calibri"/>
                <a:sym typeface="Calibri"/>
              </a:rPr>
              <a:t>Surface Metric Insights</a:t>
            </a:r>
            <a:endParaRPr b="0" i="0" sz="1200" u="none" cap="none" strike="noStrike">
              <a:solidFill>
                <a:schemeClr val="dk1"/>
              </a:solidFill>
              <a:latin typeface="Calibri"/>
              <a:ea typeface="Calibri"/>
              <a:cs typeface="Calibri"/>
              <a:sym typeface="Calibri"/>
            </a:endParaRPr>
          </a:p>
        </p:txBody>
      </p:sp>
      <p:sp>
        <p:nvSpPr>
          <p:cNvPr id="123" name="Google Shape;123;p5"/>
          <p:cNvSpPr/>
          <p:nvPr/>
        </p:nvSpPr>
        <p:spPr>
          <a:xfrm>
            <a:off x="475488" y="3364992"/>
            <a:ext cx="3867912"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8E4F0"/>
              </a:buClr>
              <a:buSzPts val="950"/>
              <a:buFont typeface="Calibri"/>
              <a:buNone/>
            </a:pPr>
            <a:r>
              <a:rPr b="0" i="0" lang="en-US" sz="1300" u="none" cap="none" strike="noStrike">
                <a:solidFill>
                  <a:srgbClr val="D8E4F0"/>
                </a:solidFill>
                <a:latin typeface="Calibri"/>
                <a:ea typeface="Calibri"/>
                <a:cs typeface="Calibri"/>
                <a:sym typeface="Calibri"/>
              </a:rPr>
              <a:t>Score every metric and dimension combination in your model to find what is most analytically valuable</a:t>
            </a:r>
            <a:endParaRPr b="0" i="0" sz="950" u="none" cap="none" strike="noStrike">
              <a:solidFill>
                <a:schemeClr val="dk1"/>
              </a:solidFill>
              <a:latin typeface="Calibri"/>
              <a:ea typeface="Calibri"/>
              <a:cs typeface="Calibri"/>
              <a:sym typeface="Calibri"/>
            </a:endParaRPr>
          </a:p>
        </p:txBody>
      </p:sp>
      <p:sp>
        <p:nvSpPr>
          <p:cNvPr id="124" name="Google Shape;124;p5"/>
          <p:cNvSpPr/>
          <p:nvPr/>
        </p:nvSpPr>
        <p:spPr>
          <a:xfrm>
            <a:off x="4617720" y="960120"/>
            <a:ext cx="4023360" cy="2697480"/>
          </a:xfrm>
          <a:prstGeom prst="rect">
            <a:avLst/>
          </a:prstGeom>
          <a:solidFill>
            <a:srgbClr val="080F1A"/>
          </a:solidFill>
          <a:ln cap="flat" cmpd="sng" w="19050">
            <a:solidFill>
              <a:srgbClr val="00B4D8"/>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25" name="Google Shape;125;p5"/>
          <p:cNvSpPr/>
          <p:nvPr/>
        </p:nvSpPr>
        <p:spPr>
          <a:xfrm>
            <a:off x="4754880" y="1069848"/>
            <a:ext cx="3749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4D8"/>
              </a:buClr>
              <a:buSzPts val="900"/>
              <a:buFont typeface="Calibri"/>
              <a:buNone/>
            </a:pPr>
            <a:r>
              <a:rPr b="1" lang="en-US" sz="1300">
                <a:solidFill>
                  <a:srgbClr val="00B4D8"/>
                </a:solidFill>
                <a:latin typeface="Calibri"/>
                <a:ea typeface="Calibri"/>
                <a:cs typeface="Calibri"/>
                <a:sym typeface="Calibri"/>
              </a:rPr>
              <a:t>Inference Engine Capabilities</a:t>
            </a:r>
            <a:endParaRPr b="0" i="0" sz="900" u="none" cap="none" strike="noStrike">
              <a:solidFill>
                <a:schemeClr val="dk1"/>
              </a:solidFill>
              <a:latin typeface="Calibri"/>
              <a:ea typeface="Calibri"/>
              <a:cs typeface="Calibri"/>
              <a:sym typeface="Calibri"/>
            </a:endParaRPr>
          </a:p>
        </p:txBody>
      </p:sp>
      <p:sp>
        <p:nvSpPr>
          <p:cNvPr id="126" name="Google Shape;126;p5"/>
          <p:cNvSpPr/>
          <p:nvPr/>
        </p:nvSpPr>
        <p:spPr>
          <a:xfrm>
            <a:off x="4754880" y="1399032"/>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DD3AA"/>
              </a:buClr>
              <a:buSzPts val="1000"/>
              <a:buFont typeface="Consolas"/>
              <a:buNone/>
            </a:pPr>
            <a:r>
              <a:rPr b="0" i="0" lang="en-US" sz="1300" u="none" cap="none" strike="noStrike">
                <a:solidFill>
                  <a:srgbClr val="7DD3AA"/>
                </a:solidFill>
                <a:latin typeface="Consolas"/>
                <a:ea typeface="Consolas"/>
                <a:cs typeface="Consolas"/>
                <a:sym typeface="Consolas"/>
              </a:rPr>
              <a:t>&gt;  Composite key detection</a:t>
            </a:r>
            <a:endParaRPr b="0" i="0" sz="1000" u="none" cap="none" strike="noStrike">
              <a:solidFill>
                <a:schemeClr val="dk1"/>
              </a:solidFill>
              <a:latin typeface="Calibri"/>
              <a:ea typeface="Calibri"/>
              <a:cs typeface="Calibri"/>
              <a:sym typeface="Calibri"/>
            </a:endParaRPr>
          </a:p>
        </p:txBody>
      </p:sp>
      <p:sp>
        <p:nvSpPr>
          <p:cNvPr id="127" name="Google Shape;127;p5"/>
          <p:cNvSpPr/>
          <p:nvPr/>
        </p:nvSpPr>
        <p:spPr>
          <a:xfrm>
            <a:off x="4754880" y="1719072"/>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DD3AA"/>
              </a:buClr>
              <a:buSzPts val="1000"/>
              <a:buFont typeface="Consolas"/>
              <a:buNone/>
            </a:pPr>
            <a:r>
              <a:rPr b="0" i="0" lang="en-US" sz="1300" u="none" cap="none" strike="noStrike">
                <a:solidFill>
                  <a:srgbClr val="7DD3AA"/>
                </a:solidFill>
                <a:latin typeface="Consolas"/>
                <a:ea typeface="Consolas"/>
                <a:cs typeface="Consolas"/>
                <a:sym typeface="Consolas"/>
              </a:rPr>
              <a:t>&gt;  FK-based fact / dimension classification</a:t>
            </a:r>
            <a:endParaRPr b="0" i="0" sz="1000" u="none" cap="none" strike="noStrike">
              <a:solidFill>
                <a:schemeClr val="dk1"/>
              </a:solidFill>
              <a:latin typeface="Calibri"/>
              <a:ea typeface="Calibri"/>
              <a:cs typeface="Calibri"/>
              <a:sym typeface="Calibri"/>
            </a:endParaRPr>
          </a:p>
        </p:txBody>
      </p:sp>
      <p:sp>
        <p:nvSpPr>
          <p:cNvPr id="128" name="Google Shape;128;p5"/>
          <p:cNvSpPr/>
          <p:nvPr/>
        </p:nvSpPr>
        <p:spPr>
          <a:xfrm>
            <a:off x="4754880" y="2039112"/>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DD3AA"/>
              </a:buClr>
              <a:buSzPts val="1000"/>
              <a:buFont typeface="Consolas"/>
              <a:buNone/>
            </a:pPr>
            <a:r>
              <a:rPr b="0" i="0" lang="en-US" sz="1300" u="none" cap="none" strike="noStrike">
                <a:solidFill>
                  <a:srgbClr val="7DD3AA"/>
                </a:solidFill>
                <a:latin typeface="Consolas"/>
                <a:ea typeface="Consolas"/>
                <a:cs typeface="Consolas"/>
                <a:sym typeface="Consolas"/>
              </a:rPr>
              <a:t>&gt;  Bridge &amp; cross-reference table detection</a:t>
            </a:r>
            <a:endParaRPr b="0" i="0" sz="1000" u="none" cap="none" strike="noStrike">
              <a:solidFill>
                <a:schemeClr val="dk1"/>
              </a:solidFill>
              <a:latin typeface="Calibri"/>
              <a:ea typeface="Calibri"/>
              <a:cs typeface="Calibri"/>
              <a:sym typeface="Calibri"/>
            </a:endParaRPr>
          </a:p>
        </p:txBody>
      </p:sp>
      <p:sp>
        <p:nvSpPr>
          <p:cNvPr id="129" name="Google Shape;129;p5"/>
          <p:cNvSpPr/>
          <p:nvPr/>
        </p:nvSpPr>
        <p:spPr>
          <a:xfrm>
            <a:off x="4754880" y="2359152"/>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DD3AA"/>
              </a:buClr>
              <a:buSzPts val="1000"/>
              <a:buFont typeface="Consolas"/>
              <a:buNone/>
            </a:pPr>
            <a:r>
              <a:rPr b="0" i="0" lang="en-US" sz="1300" u="none" cap="none" strike="noStrike">
                <a:solidFill>
                  <a:srgbClr val="7DD3AA"/>
                </a:solidFill>
                <a:latin typeface="Consolas"/>
                <a:ea typeface="Consolas"/>
                <a:cs typeface="Consolas"/>
                <a:sym typeface="Consolas"/>
              </a:rPr>
              <a:t>&gt;  Naming patterns  (dim_*, fct_*, bridge_*)</a:t>
            </a:r>
            <a:endParaRPr b="0" i="0" sz="1000" u="none" cap="none" strike="noStrike">
              <a:solidFill>
                <a:schemeClr val="dk1"/>
              </a:solidFill>
              <a:latin typeface="Calibri"/>
              <a:ea typeface="Calibri"/>
              <a:cs typeface="Calibri"/>
              <a:sym typeface="Calibri"/>
            </a:endParaRPr>
          </a:p>
        </p:txBody>
      </p:sp>
      <p:sp>
        <p:nvSpPr>
          <p:cNvPr id="130" name="Google Shape;130;p5"/>
          <p:cNvSpPr/>
          <p:nvPr/>
        </p:nvSpPr>
        <p:spPr>
          <a:xfrm>
            <a:off x="4754880" y="2679192"/>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DD3AA"/>
              </a:buClr>
              <a:buSzPts val="1000"/>
              <a:buFont typeface="Consolas"/>
              <a:buNone/>
            </a:pPr>
            <a:r>
              <a:rPr b="0" i="0" lang="en-US" sz="1300" u="none" cap="none" strike="noStrike">
                <a:solidFill>
                  <a:srgbClr val="7DD3AA"/>
                </a:solidFill>
                <a:latin typeface="Consolas"/>
                <a:ea typeface="Consolas"/>
                <a:cs typeface="Consolas"/>
                <a:sym typeface="Consolas"/>
              </a:rPr>
              <a:t>&gt;  One relationship per hierarchy</a:t>
            </a:r>
            <a:endParaRPr b="0" i="0" sz="1000" u="none" cap="none" strike="noStrike">
              <a:solidFill>
                <a:schemeClr val="dk1"/>
              </a:solidFill>
              <a:latin typeface="Calibri"/>
              <a:ea typeface="Calibri"/>
              <a:cs typeface="Calibri"/>
              <a:sym typeface="Calibri"/>
            </a:endParaRPr>
          </a:p>
        </p:txBody>
      </p:sp>
      <p:sp>
        <p:nvSpPr>
          <p:cNvPr id="131" name="Google Shape;131;p5"/>
          <p:cNvSpPr/>
          <p:nvPr/>
        </p:nvSpPr>
        <p:spPr>
          <a:xfrm>
            <a:off x="4754880" y="2999232"/>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DD3AA"/>
              </a:buClr>
              <a:buSzPts val="1000"/>
              <a:buFont typeface="Consolas"/>
              <a:buNone/>
            </a:pPr>
            <a:r>
              <a:rPr b="0" i="0" lang="en-US" sz="1300" u="none" cap="none" strike="noStrike">
                <a:solidFill>
                  <a:srgbClr val="7DD3AA"/>
                </a:solidFill>
                <a:latin typeface="Consolas"/>
                <a:ea typeface="Consolas"/>
                <a:cs typeface="Consolas"/>
                <a:sym typeface="Consolas"/>
              </a:rPr>
              <a:t>&gt;  PII column filtering by severity</a:t>
            </a:r>
            <a:endParaRPr b="0" i="0" sz="1000" u="none" cap="none" strike="noStrike">
              <a:solidFill>
                <a:schemeClr val="dk1"/>
              </a:solidFill>
              <a:latin typeface="Calibri"/>
              <a:ea typeface="Calibri"/>
              <a:cs typeface="Calibri"/>
              <a:sym typeface="Calibri"/>
            </a:endParaRPr>
          </a:p>
        </p:txBody>
      </p:sp>
      <p:sp>
        <p:nvSpPr>
          <p:cNvPr id="132" name="Google Shape;132;p5"/>
          <p:cNvSpPr/>
          <p:nvPr/>
        </p:nvSpPr>
        <p:spPr>
          <a:xfrm>
            <a:off x="274320" y="3675888"/>
            <a:ext cx="2011680" cy="1097280"/>
          </a:xfrm>
          <a:prstGeom prst="rect">
            <a:avLst/>
          </a:prstGeom>
          <a:solidFill>
            <a:srgbClr val="162840"/>
          </a:solidFill>
          <a:ln cap="flat" cmpd="sng" w="12700">
            <a:solidFill>
              <a:srgbClr val="00B4D8"/>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33" name="Google Shape;133;p5"/>
          <p:cNvSpPr/>
          <p:nvPr/>
        </p:nvSpPr>
        <p:spPr>
          <a:xfrm>
            <a:off x="274320" y="3675888"/>
            <a:ext cx="2011680" cy="4572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34" name="Google Shape;134;p5"/>
          <p:cNvSpPr/>
          <p:nvPr/>
        </p:nvSpPr>
        <p:spPr>
          <a:xfrm>
            <a:off x="384048" y="3767328"/>
            <a:ext cx="1828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4D8"/>
              </a:buClr>
              <a:buSzPts val="850"/>
              <a:buFont typeface="Calibri"/>
              <a:buNone/>
            </a:pPr>
            <a:r>
              <a:rPr b="1" i="0" lang="en-US" sz="1200" u="none" cap="none" strike="noStrike">
                <a:solidFill>
                  <a:srgbClr val="00B4D8"/>
                </a:solidFill>
                <a:latin typeface="Calibri"/>
                <a:ea typeface="Calibri"/>
                <a:cs typeface="Calibri"/>
                <a:sym typeface="Calibri"/>
              </a:rPr>
              <a:t>GOOD FOR: Starting from scratch</a:t>
            </a:r>
            <a:endParaRPr b="0" i="0" sz="850" u="none" cap="none" strike="noStrike">
              <a:solidFill>
                <a:schemeClr val="dk1"/>
              </a:solidFill>
              <a:latin typeface="Calibri"/>
              <a:ea typeface="Calibri"/>
              <a:cs typeface="Calibri"/>
              <a:sym typeface="Calibri"/>
            </a:endParaRPr>
          </a:p>
        </p:txBody>
      </p:sp>
      <p:sp>
        <p:nvSpPr>
          <p:cNvPr id="135" name="Google Shape;135;p5"/>
          <p:cNvSpPr/>
          <p:nvPr/>
        </p:nvSpPr>
        <p:spPr>
          <a:xfrm>
            <a:off x="384048" y="4069080"/>
            <a:ext cx="18288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8E4F0"/>
              </a:buClr>
              <a:buSzPts val="900"/>
              <a:buFont typeface="Calibri"/>
              <a:buNone/>
            </a:pPr>
            <a:r>
              <a:rPr b="0" i="0" lang="en-US" sz="1300" u="none" cap="none" strike="noStrike">
                <a:solidFill>
                  <a:srgbClr val="D8E4F0"/>
                </a:solidFill>
                <a:latin typeface="Calibri"/>
                <a:ea typeface="Calibri"/>
                <a:cs typeface="Calibri"/>
                <a:sym typeface="Calibri"/>
              </a:rPr>
              <a:t>Customer has a database and needs an AtScale model built fast</a:t>
            </a:r>
            <a:endParaRPr b="0" i="0" sz="900" u="none" cap="none" strike="noStrike">
              <a:solidFill>
                <a:schemeClr val="dk1"/>
              </a:solidFill>
              <a:latin typeface="Calibri"/>
              <a:ea typeface="Calibri"/>
              <a:cs typeface="Calibri"/>
              <a:sym typeface="Calibri"/>
            </a:endParaRPr>
          </a:p>
        </p:txBody>
      </p:sp>
      <p:sp>
        <p:nvSpPr>
          <p:cNvPr id="136" name="Google Shape;136;p5"/>
          <p:cNvSpPr/>
          <p:nvPr/>
        </p:nvSpPr>
        <p:spPr>
          <a:xfrm>
            <a:off x="2395728" y="3675888"/>
            <a:ext cx="2011680" cy="1097280"/>
          </a:xfrm>
          <a:prstGeom prst="rect">
            <a:avLst/>
          </a:prstGeom>
          <a:solidFill>
            <a:srgbClr val="162840"/>
          </a:solidFill>
          <a:ln cap="flat" cmpd="sng" w="12700">
            <a:solidFill>
              <a:srgbClr val="2EC278"/>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37" name="Google Shape;137;p5"/>
          <p:cNvSpPr/>
          <p:nvPr/>
        </p:nvSpPr>
        <p:spPr>
          <a:xfrm>
            <a:off x="2395728" y="3675888"/>
            <a:ext cx="2011680" cy="45720"/>
          </a:xfrm>
          <a:prstGeom prst="rect">
            <a:avLst/>
          </a:prstGeom>
          <a:solidFill>
            <a:srgbClr val="2EC278"/>
          </a:solidFill>
          <a:ln cap="flat" cmpd="sng" w="12700">
            <a:solidFill>
              <a:srgbClr val="2EC2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38" name="Google Shape;138;p5"/>
          <p:cNvSpPr/>
          <p:nvPr/>
        </p:nvSpPr>
        <p:spPr>
          <a:xfrm>
            <a:off x="2505456" y="3767328"/>
            <a:ext cx="1828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C278"/>
              </a:buClr>
              <a:buSzPts val="850"/>
              <a:buFont typeface="Calibri"/>
              <a:buNone/>
            </a:pPr>
            <a:r>
              <a:rPr b="1" i="0" lang="en-US" sz="1200" u="none" cap="none" strike="noStrike">
                <a:solidFill>
                  <a:srgbClr val="2EC278"/>
                </a:solidFill>
                <a:latin typeface="Calibri"/>
                <a:ea typeface="Calibri"/>
                <a:cs typeface="Calibri"/>
                <a:sym typeface="Calibri"/>
              </a:rPr>
              <a:t>GOOD FOR: Working offline or in CI</a:t>
            </a:r>
            <a:endParaRPr b="0" i="0" sz="850" u="none" cap="none" strike="noStrike">
              <a:solidFill>
                <a:schemeClr val="dk1"/>
              </a:solidFill>
              <a:latin typeface="Calibri"/>
              <a:ea typeface="Calibri"/>
              <a:cs typeface="Calibri"/>
              <a:sym typeface="Calibri"/>
            </a:endParaRPr>
          </a:p>
        </p:txBody>
      </p:sp>
      <p:sp>
        <p:nvSpPr>
          <p:cNvPr id="139" name="Google Shape;139;p5"/>
          <p:cNvSpPr/>
          <p:nvPr/>
        </p:nvSpPr>
        <p:spPr>
          <a:xfrm>
            <a:off x="2505456" y="4069080"/>
            <a:ext cx="18288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8E4F0"/>
              </a:buClr>
              <a:buSzPts val="900"/>
              <a:buFont typeface="Calibri"/>
              <a:buNone/>
            </a:pPr>
            <a:r>
              <a:rPr b="0" i="0" lang="en-US" sz="1300" u="none" cap="none" strike="noStrike">
                <a:solidFill>
                  <a:srgbClr val="D8E4F0"/>
                </a:solidFill>
                <a:latin typeface="Calibri"/>
                <a:ea typeface="Calibri"/>
                <a:cs typeface="Calibri"/>
                <a:sym typeface="Calibri"/>
              </a:rPr>
              <a:t>All you have is a DDL file, no live database access required</a:t>
            </a:r>
            <a:endParaRPr b="0" i="0" sz="900" u="none" cap="none" strike="noStrike">
              <a:solidFill>
                <a:schemeClr val="dk1"/>
              </a:solidFill>
              <a:latin typeface="Calibri"/>
              <a:ea typeface="Calibri"/>
              <a:cs typeface="Calibri"/>
              <a:sym typeface="Calibri"/>
            </a:endParaRPr>
          </a:p>
        </p:txBody>
      </p:sp>
      <p:sp>
        <p:nvSpPr>
          <p:cNvPr id="140" name="Google Shape;140;p5"/>
          <p:cNvSpPr/>
          <p:nvPr/>
        </p:nvSpPr>
        <p:spPr>
          <a:xfrm>
            <a:off x="4517136" y="3675888"/>
            <a:ext cx="2011680" cy="1097280"/>
          </a:xfrm>
          <a:prstGeom prst="rect">
            <a:avLst/>
          </a:prstGeom>
          <a:solidFill>
            <a:srgbClr val="162840"/>
          </a:solidFill>
          <a:ln cap="flat" cmpd="sng" w="12700">
            <a:solidFill>
              <a:srgbClr val="F4A261"/>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41" name="Google Shape;141;p5"/>
          <p:cNvSpPr/>
          <p:nvPr/>
        </p:nvSpPr>
        <p:spPr>
          <a:xfrm>
            <a:off x="4517136" y="3675888"/>
            <a:ext cx="2011680" cy="45720"/>
          </a:xfrm>
          <a:prstGeom prst="rect">
            <a:avLst/>
          </a:prstGeom>
          <a:solidFill>
            <a:srgbClr val="F4A261"/>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42" name="Google Shape;142;p5"/>
          <p:cNvSpPr/>
          <p:nvPr/>
        </p:nvSpPr>
        <p:spPr>
          <a:xfrm>
            <a:off x="4626864" y="3767328"/>
            <a:ext cx="1828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850"/>
              <a:buFont typeface="Calibri"/>
              <a:buNone/>
            </a:pPr>
            <a:r>
              <a:rPr b="1" i="0" lang="en-US" sz="1200" u="none" cap="none" strike="noStrike">
                <a:solidFill>
                  <a:srgbClr val="F4A261"/>
                </a:solidFill>
                <a:latin typeface="Calibri"/>
                <a:ea typeface="Calibri"/>
                <a:cs typeface="Calibri"/>
                <a:sym typeface="Calibri"/>
              </a:rPr>
              <a:t>GOOD FOR: Reviewing a schema edit</a:t>
            </a:r>
            <a:endParaRPr b="0" i="0" sz="850" u="none" cap="none" strike="noStrike">
              <a:solidFill>
                <a:schemeClr val="dk1"/>
              </a:solidFill>
              <a:latin typeface="Calibri"/>
              <a:ea typeface="Calibri"/>
              <a:cs typeface="Calibri"/>
              <a:sym typeface="Calibri"/>
            </a:endParaRPr>
          </a:p>
        </p:txBody>
      </p:sp>
      <p:sp>
        <p:nvSpPr>
          <p:cNvPr id="143" name="Google Shape;143;p5"/>
          <p:cNvSpPr/>
          <p:nvPr/>
        </p:nvSpPr>
        <p:spPr>
          <a:xfrm>
            <a:off x="4626864" y="4069080"/>
            <a:ext cx="18288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8E4F0"/>
              </a:buClr>
              <a:buSzPts val="900"/>
              <a:buFont typeface="Calibri"/>
              <a:buNone/>
            </a:pPr>
            <a:r>
              <a:rPr b="0" i="0" lang="en-US" sz="1300" u="none" cap="none" strike="noStrike">
                <a:solidFill>
                  <a:srgbClr val="D8E4F0"/>
                </a:solidFill>
                <a:latin typeface="Calibri"/>
                <a:ea typeface="Calibri"/>
                <a:cs typeface="Calibri"/>
                <a:sym typeface="Calibri"/>
              </a:rPr>
              <a:t>Snapshot or inspect an existing schema before making changes</a:t>
            </a:r>
            <a:endParaRPr b="0" i="0" sz="900" u="none" cap="none" strike="noStrike">
              <a:solidFill>
                <a:schemeClr val="dk1"/>
              </a:solidFill>
              <a:latin typeface="Calibri"/>
              <a:ea typeface="Calibri"/>
              <a:cs typeface="Calibri"/>
              <a:sym typeface="Calibri"/>
            </a:endParaRPr>
          </a:p>
        </p:txBody>
      </p:sp>
      <p:sp>
        <p:nvSpPr>
          <p:cNvPr id="144" name="Google Shape;144;p5"/>
          <p:cNvSpPr/>
          <p:nvPr/>
        </p:nvSpPr>
        <p:spPr>
          <a:xfrm>
            <a:off x="6638544" y="3675888"/>
            <a:ext cx="2011680" cy="1097280"/>
          </a:xfrm>
          <a:prstGeom prst="rect">
            <a:avLst/>
          </a:prstGeom>
          <a:solidFill>
            <a:srgbClr val="162840"/>
          </a:solidFill>
          <a:ln cap="flat" cmpd="sng" w="12700">
            <a:solidFill>
              <a:srgbClr val="A855F7"/>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45" name="Google Shape;145;p5"/>
          <p:cNvSpPr/>
          <p:nvPr/>
        </p:nvSpPr>
        <p:spPr>
          <a:xfrm>
            <a:off x="6638544" y="3675888"/>
            <a:ext cx="2011680" cy="45720"/>
          </a:xfrm>
          <a:prstGeom prst="rect">
            <a:avLst/>
          </a:prstGeom>
          <a:solidFill>
            <a:srgbClr val="A855F7"/>
          </a:solidFill>
          <a:ln cap="flat" cmpd="sng" w="12700">
            <a:solidFill>
              <a:srgbClr val="A855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46" name="Google Shape;146;p5"/>
          <p:cNvSpPr/>
          <p:nvPr/>
        </p:nvSpPr>
        <p:spPr>
          <a:xfrm>
            <a:off x="6748272" y="3767328"/>
            <a:ext cx="1828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5F7"/>
              </a:buClr>
              <a:buSzPts val="850"/>
              <a:buFont typeface="Calibri"/>
              <a:buNone/>
            </a:pPr>
            <a:r>
              <a:rPr b="1" i="0" lang="en-US" sz="1200" u="none" cap="none" strike="noStrike">
                <a:solidFill>
                  <a:srgbClr val="A855F7"/>
                </a:solidFill>
                <a:latin typeface="Calibri"/>
                <a:ea typeface="Calibri"/>
                <a:cs typeface="Calibri"/>
                <a:sym typeface="Calibri"/>
              </a:rPr>
              <a:t>GOOD FOR: Pre-flight metric discovery</a:t>
            </a:r>
            <a:endParaRPr b="0" i="0" sz="850" u="none" cap="none" strike="noStrike">
              <a:solidFill>
                <a:schemeClr val="dk1"/>
              </a:solidFill>
              <a:latin typeface="Calibri"/>
              <a:ea typeface="Calibri"/>
              <a:cs typeface="Calibri"/>
              <a:sym typeface="Calibri"/>
            </a:endParaRPr>
          </a:p>
        </p:txBody>
      </p:sp>
      <p:sp>
        <p:nvSpPr>
          <p:cNvPr id="147" name="Google Shape;147;p5"/>
          <p:cNvSpPr/>
          <p:nvPr/>
        </p:nvSpPr>
        <p:spPr>
          <a:xfrm>
            <a:off x="6748272" y="4069080"/>
            <a:ext cx="18288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8E4F0"/>
              </a:buClr>
              <a:buSzPts val="900"/>
              <a:buFont typeface="Calibri"/>
              <a:buNone/>
            </a:pPr>
            <a:r>
              <a:rPr b="0" i="0" lang="en-US" sz="1300" u="none" cap="none" strike="noStrike">
                <a:solidFill>
                  <a:srgbClr val="D8E4F0"/>
                </a:solidFill>
                <a:latin typeface="Calibri"/>
                <a:ea typeface="Calibri"/>
                <a:cs typeface="Calibri"/>
                <a:sym typeface="Calibri"/>
              </a:rPr>
              <a:t>Show customers which metrics matter most before building a single workbook</a:t>
            </a:r>
            <a:endParaRPr b="0" i="0" sz="900" u="none" cap="none" strike="noStrike">
              <a:solidFill>
                <a:schemeClr val="dk1"/>
              </a:solidFill>
              <a:latin typeface="Calibri"/>
              <a:ea typeface="Calibri"/>
              <a:cs typeface="Calibri"/>
              <a:sym typeface="Calibri"/>
            </a:endParaRPr>
          </a:p>
        </p:txBody>
      </p:sp>
      <p:sp>
        <p:nvSpPr>
          <p:cNvPr id="148" name="Google Shape;148;p5"/>
          <p:cNvSpPr/>
          <p:nvPr/>
        </p:nvSpPr>
        <p:spPr>
          <a:xfrm>
            <a:off x="0" y="4892040"/>
            <a:ext cx="9144000" cy="251460"/>
          </a:xfrm>
          <a:prstGeom prst="rect">
            <a:avLst/>
          </a:prstGeom>
          <a:solidFill>
            <a:srgbClr val="132D4F"/>
          </a:solidFill>
          <a:ln cap="flat" cmpd="sng" w="12700">
            <a:solidFill>
              <a:srgbClr val="132D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49" name="Google Shape;149;p5"/>
          <p:cNvSpPr/>
          <p:nvPr/>
        </p:nvSpPr>
        <p:spPr>
          <a:xfrm>
            <a:off x="1645920" y="4892040"/>
            <a:ext cx="7315200" cy="2514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A8C4"/>
              </a:buClr>
              <a:buSzPts val="750"/>
              <a:buFont typeface="Calibri"/>
              <a:buNone/>
            </a:pPr>
            <a:r>
              <a:rPr b="0" i="0" lang="en-US" sz="1200" u="none" cap="none" strike="noStrike">
                <a:solidFill>
                  <a:srgbClr val="8BA8C4"/>
                </a:solidFill>
                <a:latin typeface="Calibri"/>
                <a:ea typeface="Calibri"/>
                <a:cs typeface="Calibri"/>
                <a:sym typeface="Calibri"/>
              </a:rPr>
              <a:t>PS Template Workflow Tutorials  ·  Track 2 of 4</a:t>
            </a:r>
            <a:endParaRPr b="0" i="0" sz="750" u="none" cap="none" strike="noStrike">
              <a:solidFill>
                <a:schemeClr val="dk1"/>
              </a:solidFill>
              <a:latin typeface="Calibri"/>
              <a:ea typeface="Calibri"/>
              <a:cs typeface="Calibri"/>
              <a:sym typeface="Calibri"/>
            </a:endParaRPr>
          </a:p>
        </p:txBody>
      </p:sp>
      <p:pic>
        <p:nvPicPr>
          <p:cNvPr descr="/tmp/atscale_logo.svg" id="150" name="Google Shape;150;p5"/>
          <p:cNvPicPr preferRelativeResize="0"/>
          <p:nvPr/>
        </p:nvPicPr>
        <p:blipFill rotWithShape="1">
          <a:blip r:embed="rId3">
            <a:alphaModFix/>
          </a:blip>
          <a:srcRect b="0" l="0" r="0" t="0"/>
          <a:stretch/>
        </p:blipFill>
        <p:spPr>
          <a:xfrm>
            <a:off x="228600" y="4924044"/>
            <a:ext cx="1188717" cy="15544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6"/>
        </a:solidFill>
      </p:bgPr>
    </p:bg>
    <p:spTree>
      <p:nvGrpSpPr>
        <p:cNvPr id="155" name="Shape 155"/>
        <p:cNvGrpSpPr/>
        <p:nvPr/>
      </p:nvGrpSpPr>
      <p:grpSpPr>
        <a:xfrm>
          <a:off x="0" y="0"/>
          <a:ext cx="0" cy="0"/>
          <a:chOff x="0" y="0"/>
          <a:chExt cx="0" cy="0"/>
        </a:xfrm>
      </p:grpSpPr>
      <p:sp>
        <p:nvSpPr>
          <p:cNvPr id="156" name="Google Shape;156;p6"/>
          <p:cNvSpPr/>
          <p:nvPr/>
        </p:nvSpPr>
        <p:spPr>
          <a:xfrm>
            <a:off x="0" y="0"/>
            <a:ext cx="9144000" cy="50292"/>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57" name="Google Shape;157;p6"/>
          <p:cNvSpPr/>
          <p:nvPr/>
        </p:nvSpPr>
        <p:spPr>
          <a:xfrm>
            <a:off x="0" y="50292"/>
            <a:ext cx="9144000" cy="822960"/>
          </a:xfrm>
          <a:prstGeom prst="rect">
            <a:avLst/>
          </a:prstGeom>
          <a:solidFill>
            <a:srgbClr val="132D4F"/>
          </a:solidFill>
          <a:ln cap="flat" cmpd="sng" w="12700">
            <a:solidFill>
              <a:srgbClr val="132D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58" name="Google Shape;158;p6"/>
          <p:cNvSpPr/>
          <p:nvPr/>
        </p:nvSpPr>
        <p:spPr>
          <a:xfrm>
            <a:off x="457200" y="91440"/>
            <a:ext cx="777240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Calibri"/>
              <a:buNone/>
            </a:pPr>
            <a:r>
              <a:rPr b="1" i="0" lang="en-US" sz="3600" u="none" cap="none" strike="noStrike">
                <a:solidFill>
                  <a:srgbClr val="FFFFFF"/>
                </a:solidFill>
                <a:latin typeface="Calibri"/>
                <a:ea typeface="Calibri"/>
                <a:cs typeface="Calibri"/>
                <a:sym typeface="Calibri"/>
              </a:rPr>
              <a:t>Pick Your Starting Point</a:t>
            </a:r>
            <a:endParaRPr b="0" i="0" sz="3000" u="none" cap="none" strike="noStrike">
              <a:solidFill>
                <a:schemeClr val="dk1"/>
              </a:solidFill>
              <a:latin typeface="Calibri"/>
              <a:ea typeface="Calibri"/>
              <a:cs typeface="Calibri"/>
              <a:sym typeface="Calibri"/>
            </a:endParaRPr>
          </a:p>
        </p:txBody>
      </p:sp>
      <p:sp>
        <p:nvSpPr>
          <p:cNvPr id="159" name="Google Shape;159;p6"/>
          <p:cNvSpPr/>
          <p:nvPr/>
        </p:nvSpPr>
        <p:spPr>
          <a:xfrm>
            <a:off x="457200" y="594360"/>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4D8"/>
              </a:buClr>
              <a:buSzPts val="800"/>
              <a:buFont typeface="Calibri"/>
              <a:buNone/>
            </a:pPr>
            <a:r>
              <a:rPr b="1" i="0" lang="en-US" sz="1400" u="none" cap="none" strike="noStrike">
                <a:solidFill>
                  <a:srgbClr val="00B4D8"/>
                </a:solidFill>
                <a:latin typeface="Calibri"/>
                <a:ea typeface="Calibri"/>
                <a:cs typeface="Calibri"/>
                <a:sym typeface="Calibri"/>
              </a:rPr>
              <a:t>TRACK 2  ·  SML CREATION &amp; MANIPULATION</a:t>
            </a:r>
            <a:endParaRPr b="0" i="0" sz="800" u="none" cap="none" strike="noStrike">
              <a:solidFill>
                <a:schemeClr val="dk1"/>
              </a:solidFill>
              <a:latin typeface="Calibri"/>
              <a:ea typeface="Calibri"/>
              <a:cs typeface="Calibri"/>
              <a:sym typeface="Calibri"/>
            </a:endParaRPr>
          </a:p>
        </p:txBody>
      </p:sp>
      <p:sp>
        <p:nvSpPr>
          <p:cNvPr id="160" name="Google Shape;160;p6"/>
          <p:cNvSpPr/>
          <p:nvPr/>
        </p:nvSpPr>
        <p:spPr>
          <a:xfrm>
            <a:off x="256032" y="1078992"/>
            <a:ext cx="685800" cy="54864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61" name="Google Shape;161;p6"/>
          <p:cNvSpPr/>
          <p:nvPr/>
        </p:nvSpPr>
        <p:spPr>
          <a:xfrm>
            <a:off x="256032" y="1078992"/>
            <a:ext cx="685800" cy="54864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B1F36"/>
              </a:buClr>
              <a:buSzPts val="750"/>
              <a:buFont typeface="Calibri"/>
              <a:buNone/>
            </a:pPr>
            <a:r>
              <a:rPr b="1" i="0" lang="en-US" sz="1300" u="none" cap="none" strike="noStrike">
                <a:solidFill>
                  <a:srgbClr val="0B1F36"/>
                </a:solidFill>
                <a:latin typeface="Calibri"/>
                <a:ea typeface="Calibri"/>
                <a:cs typeface="Calibri"/>
                <a:sym typeface="Calibri"/>
              </a:rPr>
              <a:t>DDL</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B1F36"/>
              </a:buClr>
              <a:buSzPts val="750"/>
              <a:buFont typeface="Calibri"/>
              <a:buNone/>
            </a:pPr>
            <a:r>
              <a:rPr b="1" i="0" lang="en-US" sz="1300" u="none" cap="none" strike="noStrike">
                <a:solidFill>
                  <a:srgbClr val="0B1F36"/>
                </a:solidFill>
                <a:latin typeface="Calibri"/>
                <a:ea typeface="Calibri"/>
                <a:cs typeface="Calibri"/>
                <a:sym typeface="Calibri"/>
              </a:rPr>
              <a:t>PATH</a:t>
            </a:r>
            <a:endParaRPr b="0" i="0" sz="750" u="none" cap="none" strike="noStrike">
              <a:solidFill>
                <a:schemeClr val="dk1"/>
              </a:solidFill>
              <a:latin typeface="Calibri"/>
              <a:ea typeface="Calibri"/>
              <a:cs typeface="Calibri"/>
              <a:sym typeface="Calibri"/>
            </a:endParaRPr>
          </a:p>
        </p:txBody>
      </p:sp>
      <p:sp>
        <p:nvSpPr>
          <p:cNvPr id="162" name="Google Shape;162;p6"/>
          <p:cNvSpPr/>
          <p:nvPr/>
        </p:nvSpPr>
        <p:spPr>
          <a:xfrm>
            <a:off x="1033272" y="1078992"/>
            <a:ext cx="1115568" cy="548640"/>
          </a:xfrm>
          <a:prstGeom prst="rect">
            <a:avLst/>
          </a:prstGeom>
          <a:solidFill>
            <a:srgbClr val="162840"/>
          </a:solidFill>
          <a:ln cap="flat" cmpd="sng" w="15225">
            <a:solidFill>
              <a:srgbClr val="1E3A5F"/>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63" name="Google Shape;163;p6"/>
          <p:cNvSpPr/>
          <p:nvPr/>
        </p:nvSpPr>
        <p:spPr>
          <a:xfrm>
            <a:off x="1033272" y="1078992"/>
            <a:ext cx="1115568" cy="548640"/>
          </a:xfrm>
          <a:prstGeom prst="rect">
            <a:avLst/>
          </a:prstGeom>
          <a:noFill/>
          <a:ln>
            <a:noFill/>
          </a:ln>
        </p:spPr>
        <p:txBody>
          <a:bodyPr anchorCtr="0" anchor="ctr" bIns="38100" lIns="38100" spcFirstLastPara="1" rIns="38100" wrap="square" tIns="38100">
            <a:noAutofit/>
          </a:bodyPr>
          <a:lstStyle/>
          <a:p>
            <a:pPr indent="0" lvl="0" marL="0" marR="0" rtl="0" algn="ctr">
              <a:spcBef>
                <a:spcPts val="0"/>
              </a:spcBef>
              <a:spcAft>
                <a:spcPts val="0"/>
              </a:spcAft>
              <a:buClr>
                <a:srgbClr val="00B4D8"/>
              </a:buClr>
              <a:buSzPts val="850"/>
              <a:buFont typeface="Consolas"/>
              <a:buNone/>
            </a:pPr>
            <a:r>
              <a:rPr b="1" i="0" lang="en-US" sz="1300" u="none" cap="none" strike="noStrike">
                <a:solidFill>
                  <a:srgbClr val="00B4D8"/>
                </a:solidFill>
                <a:latin typeface="Consolas"/>
                <a:ea typeface="Consolas"/>
                <a:cs typeface="Consolas"/>
                <a:sym typeface="Consolas"/>
              </a:rPr>
              <a:t>DB / AtScale</a:t>
            </a:r>
            <a:endParaRPr b="0" i="0" sz="850" u="none" cap="none" strike="noStrike">
              <a:solidFill>
                <a:schemeClr val="dk1"/>
              </a:solidFill>
              <a:latin typeface="Calibri"/>
              <a:ea typeface="Calibri"/>
              <a:cs typeface="Calibri"/>
              <a:sym typeface="Calibri"/>
            </a:endParaRPr>
          </a:p>
        </p:txBody>
      </p:sp>
      <p:sp>
        <p:nvSpPr>
          <p:cNvPr id="164" name="Google Shape;164;p6"/>
          <p:cNvSpPr/>
          <p:nvPr/>
        </p:nvSpPr>
        <p:spPr>
          <a:xfrm>
            <a:off x="2240280" y="1078992"/>
            <a:ext cx="2057400" cy="548640"/>
          </a:xfrm>
          <a:prstGeom prst="rect">
            <a:avLst/>
          </a:prstGeom>
          <a:solidFill>
            <a:srgbClr val="162840"/>
          </a:solidFill>
          <a:ln cap="flat" cmpd="sng" w="15225">
            <a:solidFill>
              <a:srgbClr val="1E3A5F"/>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65" name="Google Shape;165;p6"/>
          <p:cNvSpPr/>
          <p:nvPr/>
        </p:nvSpPr>
        <p:spPr>
          <a:xfrm>
            <a:off x="2240280" y="1078992"/>
            <a:ext cx="2057400" cy="548640"/>
          </a:xfrm>
          <a:prstGeom prst="rect">
            <a:avLst/>
          </a:prstGeom>
          <a:noFill/>
          <a:ln>
            <a:noFill/>
          </a:ln>
        </p:spPr>
        <p:txBody>
          <a:bodyPr anchorCtr="0" anchor="ctr" bIns="38100" lIns="38100" spcFirstLastPara="1" rIns="38100" wrap="square" tIns="38100">
            <a:noAutofit/>
          </a:bodyPr>
          <a:lstStyle/>
          <a:p>
            <a:pPr indent="0" lvl="0" marL="0" marR="0" rtl="0" algn="ctr">
              <a:spcBef>
                <a:spcPts val="0"/>
              </a:spcBef>
              <a:spcAft>
                <a:spcPts val="0"/>
              </a:spcAft>
              <a:buClr>
                <a:srgbClr val="7DD3AA"/>
              </a:buClr>
              <a:buSzPts val="850"/>
              <a:buFont typeface="Consolas"/>
              <a:buNone/>
            </a:pPr>
            <a:r>
              <a:rPr b="1" i="0" lang="en-US" sz="1300" u="none" cap="none" strike="noStrike">
                <a:solidFill>
                  <a:srgbClr val="7DD3AA"/>
                </a:solidFill>
                <a:latin typeface="Consolas"/>
                <a:ea typeface="Consolas"/>
                <a:cs typeface="Consolas"/>
                <a:sym typeface="Consolas"/>
              </a:rPr>
              <a:t>extract-ddl or</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DD3AA"/>
              </a:buClr>
              <a:buSzPts val="850"/>
              <a:buFont typeface="Consolas"/>
              <a:buNone/>
            </a:pPr>
            <a:r>
              <a:rPr b="1" i="0" lang="en-US" sz="1300" u="none" cap="none" strike="noStrike">
                <a:solidFill>
                  <a:srgbClr val="7DD3AA"/>
                </a:solidFill>
                <a:latin typeface="Consolas"/>
                <a:ea typeface="Consolas"/>
                <a:cs typeface="Consolas"/>
                <a:sym typeface="Consolas"/>
              </a:rPr>
              <a:t>gen-ddl</a:t>
            </a:r>
            <a:endParaRPr b="0" i="0" sz="850" u="none" cap="none" strike="noStrike">
              <a:solidFill>
                <a:schemeClr val="dk1"/>
              </a:solidFill>
              <a:latin typeface="Calibri"/>
              <a:ea typeface="Calibri"/>
              <a:cs typeface="Calibri"/>
              <a:sym typeface="Calibri"/>
            </a:endParaRPr>
          </a:p>
        </p:txBody>
      </p:sp>
      <p:sp>
        <p:nvSpPr>
          <p:cNvPr id="166" name="Google Shape;166;p6"/>
          <p:cNvSpPr/>
          <p:nvPr/>
        </p:nvSpPr>
        <p:spPr>
          <a:xfrm>
            <a:off x="4389120" y="1078992"/>
            <a:ext cx="804672" cy="548640"/>
          </a:xfrm>
          <a:prstGeom prst="rect">
            <a:avLst/>
          </a:prstGeom>
          <a:solidFill>
            <a:srgbClr val="162840"/>
          </a:solidFill>
          <a:ln cap="flat" cmpd="sng" w="15225">
            <a:solidFill>
              <a:srgbClr val="1E3A5F"/>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67" name="Google Shape;167;p6"/>
          <p:cNvSpPr/>
          <p:nvPr/>
        </p:nvSpPr>
        <p:spPr>
          <a:xfrm>
            <a:off x="4389120" y="1078992"/>
            <a:ext cx="804672" cy="548640"/>
          </a:xfrm>
          <a:prstGeom prst="rect">
            <a:avLst/>
          </a:prstGeom>
          <a:noFill/>
          <a:ln>
            <a:noFill/>
          </a:ln>
        </p:spPr>
        <p:txBody>
          <a:bodyPr anchorCtr="0" anchor="ctr" bIns="38100" lIns="38100" spcFirstLastPara="1" rIns="38100" wrap="square" tIns="38100">
            <a:noAutofit/>
          </a:bodyPr>
          <a:lstStyle/>
          <a:p>
            <a:pPr indent="0" lvl="0" marL="0" marR="0" rtl="0" algn="ctr">
              <a:spcBef>
                <a:spcPts val="0"/>
              </a:spcBef>
              <a:spcAft>
                <a:spcPts val="0"/>
              </a:spcAft>
              <a:buClr>
                <a:srgbClr val="D8E4F0"/>
              </a:buClr>
              <a:buSzPts val="800"/>
              <a:buFont typeface="Consolas"/>
              <a:buNone/>
            </a:pPr>
            <a:r>
              <a:rPr b="1" i="0" lang="en-US" sz="1400" u="none" cap="none" strike="noStrike">
                <a:solidFill>
                  <a:srgbClr val="D8E4F0"/>
                </a:solidFill>
                <a:latin typeface="Consolas"/>
                <a:ea typeface="Consolas"/>
                <a:cs typeface="Consolas"/>
                <a:sym typeface="Consolas"/>
              </a:rPr>
              <a:t>DDL</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8E4F0"/>
              </a:buClr>
              <a:buSzPts val="800"/>
              <a:buFont typeface="Consolas"/>
              <a:buNone/>
            </a:pPr>
            <a:r>
              <a:rPr b="1" i="0" lang="en-US" sz="1400" u="none" cap="none" strike="noStrike">
                <a:solidFill>
                  <a:srgbClr val="D8E4F0"/>
                </a:solidFill>
                <a:latin typeface="Consolas"/>
                <a:ea typeface="Consolas"/>
                <a:cs typeface="Consolas"/>
                <a:sym typeface="Consolas"/>
              </a:rPr>
              <a:t>.sql</a:t>
            </a:r>
            <a:endParaRPr b="0" i="0" sz="800" u="none" cap="none" strike="noStrike">
              <a:solidFill>
                <a:schemeClr val="dk1"/>
              </a:solidFill>
              <a:latin typeface="Calibri"/>
              <a:ea typeface="Calibri"/>
              <a:cs typeface="Calibri"/>
              <a:sym typeface="Calibri"/>
            </a:endParaRPr>
          </a:p>
        </p:txBody>
      </p:sp>
      <p:sp>
        <p:nvSpPr>
          <p:cNvPr id="168" name="Google Shape;168;p6"/>
          <p:cNvSpPr/>
          <p:nvPr/>
        </p:nvSpPr>
        <p:spPr>
          <a:xfrm>
            <a:off x="5285232" y="1078992"/>
            <a:ext cx="2011680" cy="548640"/>
          </a:xfrm>
          <a:prstGeom prst="rect">
            <a:avLst/>
          </a:prstGeom>
          <a:solidFill>
            <a:srgbClr val="162840"/>
          </a:solidFill>
          <a:ln cap="flat" cmpd="sng" w="15225">
            <a:solidFill>
              <a:srgbClr val="1E3A5F"/>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69" name="Google Shape;169;p6"/>
          <p:cNvSpPr/>
          <p:nvPr/>
        </p:nvSpPr>
        <p:spPr>
          <a:xfrm>
            <a:off x="5285232" y="1078992"/>
            <a:ext cx="2011680" cy="548640"/>
          </a:xfrm>
          <a:prstGeom prst="rect">
            <a:avLst/>
          </a:prstGeom>
          <a:noFill/>
          <a:ln>
            <a:noFill/>
          </a:ln>
        </p:spPr>
        <p:txBody>
          <a:bodyPr anchorCtr="0" anchor="ctr" bIns="38100" lIns="38100" spcFirstLastPara="1" rIns="38100" wrap="square" tIns="38100">
            <a:noAutofit/>
          </a:bodyPr>
          <a:lstStyle/>
          <a:p>
            <a:pPr indent="0" lvl="0" marL="0" marR="0" rtl="0" algn="ctr">
              <a:spcBef>
                <a:spcPts val="0"/>
              </a:spcBef>
              <a:spcAft>
                <a:spcPts val="0"/>
              </a:spcAft>
              <a:buClr>
                <a:srgbClr val="7DD3AA"/>
              </a:buClr>
              <a:buSzPts val="850"/>
              <a:buFont typeface="Consolas"/>
              <a:buNone/>
            </a:pPr>
            <a:r>
              <a:rPr b="1" i="0" lang="en-US" sz="1300" u="none" cap="none" strike="noStrike">
                <a:solidFill>
                  <a:srgbClr val="7DD3AA"/>
                </a:solidFill>
                <a:latin typeface="Consolas"/>
                <a:ea typeface="Consolas"/>
                <a:cs typeface="Consolas"/>
                <a:sym typeface="Consolas"/>
              </a:rPr>
              <a:t>generate-sml-</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DD3AA"/>
              </a:buClr>
              <a:buSzPts val="850"/>
              <a:buFont typeface="Consolas"/>
              <a:buNone/>
            </a:pPr>
            <a:r>
              <a:rPr b="1" i="0" lang="en-US" sz="1300" u="none" cap="none" strike="noStrike">
                <a:solidFill>
                  <a:srgbClr val="7DD3AA"/>
                </a:solidFill>
                <a:latin typeface="Consolas"/>
                <a:ea typeface="Consolas"/>
                <a:cs typeface="Consolas"/>
                <a:sym typeface="Consolas"/>
              </a:rPr>
              <a:t>from-ddl</a:t>
            </a:r>
            <a:endParaRPr b="0" i="0" sz="850" u="none" cap="none" strike="noStrike">
              <a:solidFill>
                <a:schemeClr val="dk1"/>
              </a:solidFill>
              <a:latin typeface="Calibri"/>
              <a:ea typeface="Calibri"/>
              <a:cs typeface="Calibri"/>
              <a:sym typeface="Calibri"/>
            </a:endParaRPr>
          </a:p>
        </p:txBody>
      </p:sp>
      <p:sp>
        <p:nvSpPr>
          <p:cNvPr id="170" name="Google Shape;170;p6"/>
          <p:cNvSpPr/>
          <p:nvPr/>
        </p:nvSpPr>
        <p:spPr>
          <a:xfrm>
            <a:off x="7388352" y="1078992"/>
            <a:ext cx="1527048" cy="548640"/>
          </a:xfrm>
          <a:prstGeom prst="rect">
            <a:avLst/>
          </a:prstGeom>
          <a:solidFill>
            <a:srgbClr val="162840"/>
          </a:solidFill>
          <a:ln cap="flat" cmpd="sng" w="15225">
            <a:solidFill>
              <a:srgbClr val="1E3A5F"/>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71" name="Google Shape;171;p6"/>
          <p:cNvSpPr/>
          <p:nvPr/>
        </p:nvSpPr>
        <p:spPr>
          <a:xfrm>
            <a:off x="7388352" y="1078992"/>
            <a:ext cx="1527048" cy="548640"/>
          </a:xfrm>
          <a:prstGeom prst="rect">
            <a:avLst/>
          </a:prstGeom>
          <a:noFill/>
          <a:ln>
            <a:noFill/>
          </a:ln>
        </p:spPr>
        <p:txBody>
          <a:bodyPr anchorCtr="0" anchor="ctr" bIns="38100" lIns="38100" spcFirstLastPara="1" rIns="38100" wrap="square" tIns="38100">
            <a:noAutofit/>
          </a:bodyPr>
          <a:lstStyle/>
          <a:p>
            <a:pPr indent="0" lvl="0" marL="0" marR="0" rtl="0" algn="ctr">
              <a:spcBef>
                <a:spcPts val="0"/>
              </a:spcBef>
              <a:spcAft>
                <a:spcPts val="0"/>
              </a:spcAft>
              <a:buClr>
                <a:srgbClr val="2EC278"/>
              </a:buClr>
              <a:buSzPts val="950"/>
              <a:buFont typeface="Consolas"/>
              <a:buNone/>
            </a:pPr>
            <a:r>
              <a:rPr b="1" i="0" lang="en-US" sz="1400" u="none" cap="none" strike="noStrike">
                <a:solidFill>
                  <a:srgbClr val="2EC278"/>
                </a:solidFill>
                <a:latin typeface="Consolas"/>
                <a:ea typeface="Consolas"/>
                <a:cs typeface="Consolas"/>
                <a:sym typeface="Consolas"/>
              </a:rPr>
              <a:t>SML</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EC278"/>
              </a:buClr>
              <a:buSzPts val="950"/>
              <a:buFont typeface="Consolas"/>
              <a:buNone/>
            </a:pPr>
            <a:r>
              <a:rPr b="1" i="0" lang="en-US" sz="1400" u="none" cap="none" strike="noStrike">
                <a:solidFill>
                  <a:srgbClr val="2EC278"/>
                </a:solidFill>
                <a:latin typeface="Consolas"/>
                <a:ea typeface="Consolas"/>
                <a:cs typeface="Consolas"/>
                <a:sym typeface="Consolas"/>
              </a:rPr>
              <a:t>Files</a:t>
            </a:r>
            <a:endParaRPr b="0" i="0" sz="950" u="none" cap="none" strike="noStrike">
              <a:solidFill>
                <a:schemeClr val="dk1"/>
              </a:solidFill>
              <a:latin typeface="Calibri"/>
              <a:ea typeface="Calibri"/>
              <a:cs typeface="Calibri"/>
              <a:sym typeface="Calibri"/>
            </a:endParaRPr>
          </a:p>
        </p:txBody>
      </p:sp>
      <p:cxnSp>
        <p:nvCxnSpPr>
          <p:cNvPr id="172" name="Google Shape;172;p6"/>
          <p:cNvCxnSpPr/>
          <p:nvPr/>
        </p:nvCxnSpPr>
        <p:spPr>
          <a:xfrm>
            <a:off x="2148840" y="1353312"/>
            <a:ext cx="91440" cy="0"/>
          </a:xfrm>
          <a:prstGeom prst="straightConnector1">
            <a:avLst/>
          </a:prstGeom>
          <a:noFill/>
          <a:ln cap="flat" cmpd="sng" w="22850">
            <a:solidFill>
              <a:srgbClr val="00B4D8"/>
            </a:solidFill>
            <a:prstDash val="solid"/>
            <a:round/>
            <a:headEnd len="sm" w="sm" type="none"/>
            <a:tailEnd len="med" w="med" type="triangle"/>
          </a:ln>
        </p:spPr>
      </p:cxnSp>
      <p:cxnSp>
        <p:nvCxnSpPr>
          <p:cNvPr id="173" name="Google Shape;173;p6"/>
          <p:cNvCxnSpPr/>
          <p:nvPr/>
        </p:nvCxnSpPr>
        <p:spPr>
          <a:xfrm>
            <a:off x="4297680" y="1353312"/>
            <a:ext cx="91440" cy="0"/>
          </a:xfrm>
          <a:prstGeom prst="straightConnector1">
            <a:avLst/>
          </a:prstGeom>
          <a:noFill/>
          <a:ln cap="flat" cmpd="sng" w="22850">
            <a:solidFill>
              <a:srgbClr val="00B4D8"/>
            </a:solidFill>
            <a:prstDash val="solid"/>
            <a:round/>
            <a:headEnd len="sm" w="sm" type="none"/>
            <a:tailEnd len="med" w="med" type="triangle"/>
          </a:ln>
        </p:spPr>
      </p:cxnSp>
      <p:cxnSp>
        <p:nvCxnSpPr>
          <p:cNvPr id="174" name="Google Shape;174;p6"/>
          <p:cNvCxnSpPr/>
          <p:nvPr/>
        </p:nvCxnSpPr>
        <p:spPr>
          <a:xfrm>
            <a:off x="5193792" y="1353312"/>
            <a:ext cx="91440" cy="0"/>
          </a:xfrm>
          <a:prstGeom prst="straightConnector1">
            <a:avLst/>
          </a:prstGeom>
          <a:noFill/>
          <a:ln cap="flat" cmpd="sng" w="22850">
            <a:solidFill>
              <a:srgbClr val="00B4D8"/>
            </a:solidFill>
            <a:prstDash val="solid"/>
            <a:round/>
            <a:headEnd len="sm" w="sm" type="none"/>
            <a:tailEnd len="med" w="med" type="triangle"/>
          </a:ln>
        </p:spPr>
      </p:cxnSp>
      <p:cxnSp>
        <p:nvCxnSpPr>
          <p:cNvPr id="175" name="Google Shape;175;p6"/>
          <p:cNvCxnSpPr/>
          <p:nvPr/>
        </p:nvCxnSpPr>
        <p:spPr>
          <a:xfrm>
            <a:off x="7296912" y="1353312"/>
            <a:ext cx="91440" cy="0"/>
          </a:xfrm>
          <a:prstGeom prst="straightConnector1">
            <a:avLst/>
          </a:prstGeom>
          <a:noFill/>
          <a:ln cap="flat" cmpd="sng" w="22850">
            <a:solidFill>
              <a:srgbClr val="00B4D8"/>
            </a:solidFill>
            <a:prstDash val="solid"/>
            <a:round/>
            <a:headEnd len="sm" w="sm" type="none"/>
            <a:tailEnd len="med" w="med" type="triangle"/>
          </a:ln>
        </p:spPr>
      </p:cxnSp>
      <p:sp>
        <p:nvSpPr>
          <p:cNvPr id="176" name="Google Shape;176;p6"/>
          <p:cNvSpPr/>
          <p:nvPr/>
        </p:nvSpPr>
        <p:spPr>
          <a:xfrm>
            <a:off x="256032" y="1975104"/>
            <a:ext cx="685800" cy="548640"/>
          </a:xfrm>
          <a:prstGeom prst="rect">
            <a:avLst/>
          </a:prstGeom>
          <a:solidFill>
            <a:srgbClr val="2EC278"/>
          </a:solidFill>
          <a:ln cap="flat" cmpd="sng" w="12700">
            <a:solidFill>
              <a:srgbClr val="2EC2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77" name="Google Shape;177;p6"/>
          <p:cNvSpPr/>
          <p:nvPr/>
        </p:nvSpPr>
        <p:spPr>
          <a:xfrm>
            <a:off x="256032" y="1975104"/>
            <a:ext cx="685800" cy="54864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B1F36"/>
              </a:buClr>
              <a:buSzPts val="750"/>
              <a:buFont typeface="Calibri"/>
              <a:buNone/>
            </a:pPr>
            <a:r>
              <a:rPr b="1" i="0" lang="en-US" sz="1300" u="none" cap="none" strike="noStrike">
                <a:solidFill>
                  <a:srgbClr val="0B1F36"/>
                </a:solidFill>
                <a:latin typeface="Calibri"/>
                <a:ea typeface="Calibri"/>
                <a:cs typeface="Calibri"/>
                <a:sym typeface="Calibri"/>
              </a:rPr>
              <a:t>DIRECT</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B1F36"/>
              </a:buClr>
              <a:buSzPts val="750"/>
              <a:buFont typeface="Calibri"/>
              <a:buNone/>
            </a:pPr>
            <a:r>
              <a:rPr b="1" i="0" lang="en-US" sz="1300" u="none" cap="none" strike="noStrike">
                <a:solidFill>
                  <a:srgbClr val="0B1F36"/>
                </a:solidFill>
                <a:latin typeface="Calibri"/>
                <a:ea typeface="Calibri"/>
                <a:cs typeface="Calibri"/>
                <a:sym typeface="Calibri"/>
              </a:rPr>
              <a:t>PATH</a:t>
            </a:r>
            <a:endParaRPr b="0" i="0" sz="750" u="none" cap="none" strike="noStrike">
              <a:solidFill>
                <a:schemeClr val="dk1"/>
              </a:solidFill>
              <a:latin typeface="Calibri"/>
              <a:ea typeface="Calibri"/>
              <a:cs typeface="Calibri"/>
              <a:sym typeface="Calibri"/>
            </a:endParaRPr>
          </a:p>
        </p:txBody>
      </p:sp>
      <p:sp>
        <p:nvSpPr>
          <p:cNvPr id="178" name="Google Shape;178;p6"/>
          <p:cNvSpPr/>
          <p:nvPr/>
        </p:nvSpPr>
        <p:spPr>
          <a:xfrm>
            <a:off x="1033272" y="1975104"/>
            <a:ext cx="1115568" cy="548640"/>
          </a:xfrm>
          <a:prstGeom prst="rect">
            <a:avLst/>
          </a:prstGeom>
          <a:solidFill>
            <a:srgbClr val="162840"/>
          </a:solidFill>
          <a:ln cap="flat" cmpd="sng" w="15225">
            <a:solidFill>
              <a:srgbClr val="1E3A5F"/>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79" name="Google Shape;179;p6"/>
          <p:cNvSpPr/>
          <p:nvPr/>
        </p:nvSpPr>
        <p:spPr>
          <a:xfrm>
            <a:off x="1033272" y="1975104"/>
            <a:ext cx="1115568" cy="548640"/>
          </a:xfrm>
          <a:prstGeom prst="rect">
            <a:avLst/>
          </a:prstGeom>
          <a:noFill/>
          <a:ln>
            <a:noFill/>
          </a:ln>
        </p:spPr>
        <p:txBody>
          <a:bodyPr anchorCtr="0" anchor="ctr" bIns="38100" lIns="38100" spcFirstLastPara="1" rIns="38100" wrap="square" tIns="38100">
            <a:noAutofit/>
          </a:bodyPr>
          <a:lstStyle/>
          <a:p>
            <a:pPr indent="0" lvl="0" marL="0" marR="0" rtl="0" algn="ctr">
              <a:spcBef>
                <a:spcPts val="0"/>
              </a:spcBef>
              <a:spcAft>
                <a:spcPts val="0"/>
              </a:spcAft>
              <a:buClr>
                <a:srgbClr val="00B4D8"/>
              </a:buClr>
              <a:buSzPts val="850"/>
              <a:buFont typeface="Consolas"/>
              <a:buNone/>
            </a:pPr>
            <a:r>
              <a:rPr b="1" i="0" lang="en-US" sz="1300" u="none" cap="none" strike="noStrike">
                <a:solidFill>
                  <a:srgbClr val="00B4D8"/>
                </a:solidFill>
                <a:latin typeface="Consolas"/>
                <a:ea typeface="Consolas"/>
                <a:cs typeface="Consolas"/>
                <a:sym typeface="Consolas"/>
              </a:rPr>
              <a:t>Database</a:t>
            </a:r>
            <a:endParaRPr b="0" i="0" sz="850" u="none" cap="none" strike="noStrike">
              <a:solidFill>
                <a:schemeClr val="dk1"/>
              </a:solidFill>
              <a:latin typeface="Calibri"/>
              <a:ea typeface="Calibri"/>
              <a:cs typeface="Calibri"/>
              <a:sym typeface="Calibri"/>
            </a:endParaRPr>
          </a:p>
        </p:txBody>
      </p:sp>
      <p:sp>
        <p:nvSpPr>
          <p:cNvPr id="180" name="Google Shape;180;p6"/>
          <p:cNvSpPr/>
          <p:nvPr/>
        </p:nvSpPr>
        <p:spPr>
          <a:xfrm>
            <a:off x="2240280" y="1975104"/>
            <a:ext cx="4965192" cy="548640"/>
          </a:xfrm>
          <a:prstGeom prst="rect">
            <a:avLst/>
          </a:prstGeom>
          <a:solidFill>
            <a:srgbClr val="162840"/>
          </a:solidFill>
          <a:ln cap="flat" cmpd="sng" w="15225">
            <a:solidFill>
              <a:srgbClr val="1E3A5F"/>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81" name="Google Shape;181;p6"/>
          <p:cNvSpPr/>
          <p:nvPr/>
        </p:nvSpPr>
        <p:spPr>
          <a:xfrm>
            <a:off x="2240280" y="1975104"/>
            <a:ext cx="4965300" cy="548700"/>
          </a:xfrm>
          <a:prstGeom prst="rect">
            <a:avLst/>
          </a:prstGeom>
          <a:noFill/>
          <a:ln>
            <a:noFill/>
          </a:ln>
        </p:spPr>
        <p:txBody>
          <a:bodyPr anchorCtr="0" anchor="ctr" bIns="38100" lIns="38100" spcFirstLastPara="1" rIns="38100" wrap="square" tIns="38100">
            <a:noAutofit/>
          </a:bodyPr>
          <a:lstStyle/>
          <a:p>
            <a:pPr indent="0" lvl="0" marL="0" marR="0" rtl="0" algn="ctr">
              <a:spcBef>
                <a:spcPts val="0"/>
              </a:spcBef>
              <a:spcAft>
                <a:spcPts val="0"/>
              </a:spcAft>
              <a:buClr>
                <a:srgbClr val="7DD3AA"/>
              </a:buClr>
              <a:buSzPts val="850"/>
              <a:buFont typeface="Consolas"/>
              <a:buNone/>
            </a:pPr>
            <a:r>
              <a:rPr b="1" i="0" lang="en-US" sz="1300" u="none" cap="none" strike="noStrike">
                <a:solidFill>
                  <a:srgbClr val="7DD3AA"/>
                </a:solidFill>
                <a:latin typeface="Consolas"/>
                <a:ea typeface="Consolas"/>
                <a:cs typeface="Consolas"/>
                <a:sym typeface="Consolas"/>
              </a:rPr>
              <a:t>generate-sml-from-connection</a:t>
            </a:r>
            <a:endParaRPr b="0" i="0" sz="850" u="none" cap="none" strike="noStrike">
              <a:solidFill>
                <a:schemeClr val="dk1"/>
              </a:solidFill>
              <a:latin typeface="Calibri"/>
              <a:ea typeface="Calibri"/>
              <a:cs typeface="Calibri"/>
              <a:sym typeface="Calibri"/>
            </a:endParaRPr>
          </a:p>
        </p:txBody>
      </p:sp>
      <p:sp>
        <p:nvSpPr>
          <p:cNvPr id="182" name="Google Shape;182;p6"/>
          <p:cNvSpPr/>
          <p:nvPr/>
        </p:nvSpPr>
        <p:spPr>
          <a:xfrm>
            <a:off x="7388352" y="1975104"/>
            <a:ext cx="1527048" cy="548640"/>
          </a:xfrm>
          <a:prstGeom prst="rect">
            <a:avLst/>
          </a:prstGeom>
          <a:solidFill>
            <a:srgbClr val="162840"/>
          </a:solidFill>
          <a:ln cap="flat" cmpd="sng" w="15225">
            <a:solidFill>
              <a:srgbClr val="1E3A5F"/>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83" name="Google Shape;183;p6"/>
          <p:cNvSpPr/>
          <p:nvPr/>
        </p:nvSpPr>
        <p:spPr>
          <a:xfrm>
            <a:off x="7388352" y="1975104"/>
            <a:ext cx="1527048" cy="548640"/>
          </a:xfrm>
          <a:prstGeom prst="rect">
            <a:avLst/>
          </a:prstGeom>
          <a:noFill/>
          <a:ln>
            <a:noFill/>
          </a:ln>
        </p:spPr>
        <p:txBody>
          <a:bodyPr anchorCtr="0" anchor="ctr" bIns="38100" lIns="38100" spcFirstLastPara="1" rIns="38100" wrap="square" tIns="38100">
            <a:noAutofit/>
          </a:bodyPr>
          <a:lstStyle/>
          <a:p>
            <a:pPr indent="0" lvl="0" marL="0" marR="0" rtl="0" algn="ctr">
              <a:spcBef>
                <a:spcPts val="0"/>
              </a:spcBef>
              <a:spcAft>
                <a:spcPts val="0"/>
              </a:spcAft>
              <a:buClr>
                <a:srgbClr val="2EC278"/>
              </a:buClr>
              <a:buSzPts val="950"/>
              <a:buFont typeface="Consolas"/>
              <a:buNone/>
            </a:pPr>
            <a:r>
              <a:rPr b="1" i="0" lang="en-US" sz="1400" u="none" cap="none" strike="noStrike">
                <a:solidFill>
                  <a:srgbClr val="2EC278"/>
                </a:solidFill>
                <a:latin typeface="Consolas"/>
                <a:ea typeface="Consolas"/>
                <a:cs typeface="Consolas"/>
                <a:sym typeface="Consolas"/>
              </a:rPr>
              <a:t>SML</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EC278"/>
              </a:buClr>
              <a:buSzPts val="950"/>
              <a:buFont typeface="Consolas"/>
              <a:buNone/>
            </a:pPr>
            <a:r>
              <a:rPr b="1" i="0" lang="en-US" sz="1400" u="none" cap="none" strike="noStrike">
                <a:solidFill>
                  <a:srgbClr val="2EC278"/>
                </a:solidFill>
                <a:latin typeface="Consolas"/>
                <a:ea typeface="Consolas"/>
                <a:cs typeface="Consolas"/>
                <a:sym typeface="Consolas"/>
              </a:rPr>
              <a:t>Files</a:t>
            </a:r>
            <a:endParaRPr b="0" i="0" sz="950" u="none" cap="none" strike="noStrike">
              <a:solidFill>
                <a:schemeClr val="dk1"/>
              </a:solidFill>
              <a:latin typeface="Calibri"/>
              <a:ea typeface="Calibri"/>
              <a:cs typeface="Calibri"/>
              <a:sym typeface="Calibri"/>
            </a:endParaRPr>
          </a:p>
        </p:txBody>
      </p:sp>
      <p:cxnSp>
        <p:nvCxnSpPr>
          <p:cNvPr id="184" name="Google Shape;184;p6"/>
          <p:cNvCxnSpPr/>
          <p:nvPr/>
        </p:nvCxnSpPr>
        <p:spPr>
          <a:xfrm>
            <a:off x="2148840" y="2249424"/>
            <a:ext cx="91440" cy="0"/>
          </a:xfrm>
          <a:prstGeom prst="straightConnector1">
            <a:avLst/>
          </a:prstGeom>
          <a:noFill/>
          <a:ln cap="flat" cmpd="sng" w="22850">
            <a:solidFill>
              <a:srgbClr val="2EC278"/>
            </a:solidFill>
            <a:prstDash val="solid"/>
            <a:round/>
            <a:headEnd len="sm" w="sm" type="none"/>
            <a:tailEnd len="med" w="med" type="triangle"/>
          </a:ln>
        </p:spPr>
      </p:cxnSp>
      <p:cxnSp>
        <p:nvCxnSpPr>
          <p:cNvPr id="185" name="Google Shape;185;p6"/>
          <p:cNvCxnSpPr/>
          <p:nvPr/>
        </p:nvCxnSpPr>
        <p:spPr>
          <a:xfrm>
            <a:off x="7205472" y="2249424"/>
            <a:ext cx="182880" cy="0"/>
          </a:xfrm>
          <a:prstGeom prst="straightConnector1">
            <a:avLst/>
          </a:prstGeom>
          <a:noFill/>
          <a:ln cap="flat" cmpd="sng" w="22850">
            <a:solidFill>
              <a:srgbClr val="2EC278"/>
            </a:solidFill>
            <a:prstDash val="solid"/>
            <a:round/>
            <a:headEnd len="sm" w="sm" type="none"/>
            <a:tailEnd len="med" w="med" type="triangle"/>
          </a:ln>
        </p:spPr>
      </p:cxnSp>
      <p:sp>
        <p:nvSpPr>
          <p:cNvPr id="186" name="Google Shape;186;p6"/>
          <p:cNvSpPr/>
          <p:nvPr/>
        </p:nvSpPr>
        <p:spPr>
          <a:xfrm>
            <a:off x="256032" y="2871216"/>
            <a:ext cx="685800" cy="548640"/>
          </a:xfrm>
          <a:prstGeom prst="rect">
            <a:avLst/>
          </a:prstGeom>
          <a:solidFill>
            <a:srgbClr val="F4A261"/>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87" name="Google Shape;187;p6"/>
          <p:cNvSpPr/>
          <p:nvPr/>
        </p:nvSpPr>
        <p:spPr>
          <a:xfrm>
            <a:off x="256032" y="2871216"/>
            <a:ext cx="685800" cy="54864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B1F36"/>
              </a:buClr>
              <a:buSzPts val="750"/>
              <a:buFont typeface="Calibri"/>
              <a:buNone/>
            </a:pPr>
            <a:r>
              <a:rPr b="1" i="0" lang="en-US" sz="1300" u="none" cap="none" strike="noStrike">
                <a:solidFill>
                  <a:srgbClr val="0B1F36"/>
                </a:solidFill>
                <a:latin typeface="Calibri"/>
                <a:ea typeface="Calibri"/>
                <a:cs typeface="Calibri"/>
                <a:sym typeface="Calibri"/>
              </a:rPr>
              <a:t>AD-HOC</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B1F36"/>
              </a:buClr>
              <a:buSzPts val="750"/>
              <a:buFont typeface="Calibri"/>
              <a:buNone/>
            </a:pPr>
            <a:r>
              <a:rPr b="1" i="0" lang="en-US" sz="1300" u="none" cap="none" strike="noStrike">
                <a:solidFill>
                  <a:srgbClr val="0B1F36"/>
                </a:solidFill>
                <a:latin typeface="Calibri"/>
                <a:ea typeface="Calibri"/>
                <a:cs typeface="Calibri"/>
                <a:sym typeface="Calibri"/>
              </a:rPr>
              <a:t>SQL</a:t>
            </a:r>
            <a:endParaRPr b="0" i="0" sz="750" u="none" cap="none" strike="noStrike">
              <a:solidFill>
                <a:schemeClr val="dk1"/>
              </a:solidFill>
              <a:latin typeface="Calibri"/>
              <a:ea typeface="Calibri"/>
              <a:cs typeface="Calibri"/>
              <a:sym typeface="Calibri"/>
            </a:endParaRPr>
          </a:p>
        </p:txBody>
      </p:sp>
      <p:sp>
        <p:nvSpPr>
          <p:cNvPr id="188" name="Google Shape;188;p6"/>
          <p:cNvSpPr/>
          <p:nvPr/>
        </p:nvSpPr>
        <p:spPr>
          <a:xfrm>
            <a:off x="1033272" y="2871216"/>
            <a:ext cx="1115568" cy="548640"/>
          </a:xfrm>
          <a:prstGeom prst="rect">
            <a:avLst/>
          </a:prstGeom>
          <a:solidFill>
            <a:srgbClr val="162840"/>
          </a:solidFill>
          <a:ln cap="flat" cmpd="sng" w="15225">
            <a:solidFill>
              <a:srgbClr val="1E3A5F"/>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89" name="Google Shape;189;p6"/>
          <p:cNvSpPr/>
          <p:nvPr/>
        </p:nvSpPr>
        <p:spPr>
          <a:xfrm>
            <a:off x="1033272" y="2871216"/>
            <a:ext cx="1115568" cy="548640"/>
          </a:xfrm>
          <a:prstGeom prst="rect">
            <a:avLst/>
          </a:prstGeom>
          <a:noFill/>
          <a:ln>
            <a:noFill/>
          </a:ln>
        </p:spPr>
        <p:txBody>
          <a:bodyPr anchorCtr="0" anchor="ctr" bIns="38100" lIns="38100" spcFirstLastPara="1" rIns="38100" wrap="square" tIns="38100">
            <a:noAutofit/>
          </a:bodyPr>
          <a:lstStyle/>
          <a:p>
            <a:pPr indent="0" lvl="0" marL="0" marR="0" rtl="0" algn="ctr">
              <a:spcBef>
                <a:spcPts val="0"/>
              </a:spcBef>
              <a:spcAft>
                <a:spcPts val="0"/>
              </a:spcAft>
              <a:buClr>
                <a:srgbClr val="00B4D8"/>
              </a:buClr>
              <a:buSzPts val="850"/>
              <a:buFont typeface="Consolas"/>
              <a:buNone/>
            </a:pPr>
            <a:r>
              <a:rPr b="1" i="0" lang="en-US" sz="1300" u="none" cap="none" strike="noStrike">
                <a:solidFill>
                  <a:srgbClr val="00B4D8"/>
                </a:solidFill>
                <a:latin typeface="Consolas"/>
                <a:ea typeface="Consolas"/>
                <a:cs typeface="Consolas"/>
                <a:sym typeface="Consolas"/>
              </a:rPr>
              <a:t>Database</a:t>
            </a:r>
            <a:endParaRPr b="0" i="0" sz="850" u="none" cap="none" strike="noStrike">
              <a:solidFill>
                <a:schemeClr val="dk1"/>
              </a:solidFill>
              <a:latin typeface="Calibri"/>
              <a:ea typeface="Calibri"/>
              <a:cs typeface="Calibri"/>
              <a:sym typeface="Calibri"/>
            </a:endParaRPr>
          </a:p>
        </p:txBody>
      </p:sp>
      <p:sp>
        <p:nvSpPr>
          <p:cNvPr id="190" name="Google Shape;190;p6"/>
          <p:cNvSpPr/>
          <p:nvPr/>
        </p:nvSpPr>
        <p:spPr>
          <a:xfrm>
            <a:off x="2240280" y="2871216"/>
            <a:ext cx="4965192" cy="548640"/>
          </a:xfrm>
          <a:prstGeom prst="rect">
            <a:avLst/>
          </a:prstGeom>
          <a:solidFill>
            <a:srgbClr val="162840"/>
          </a:solidFill>
          <a:ln cap="flat" cmpd="sng" w="15225">
            <a:solidFill>
              <a:srgbClr val="1E3A5F"/>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91" name="Google Shape;191;p6"/>
          <p:cNvSpPr/>
          <p:nvPr/>
        </p:nvSpPr>
        <p:spPr>
          <a:xfrm>
            <a:off x="2240280" y="2871216"/>
            <a:ext cx="4965192" cy="548640"/>
          </a:xfrm>
          <a:prstGeom prst="rect">
            <a:avLst/>
          </a:prstGeom>
          <a:noFill/>
          <a:ln>
            <a:noFill/>
          </a:ln>
        </p:spPr>
        <p:txBody>
          <a:bodyPr anchorCtr="0" anchor="ctr" bIns="38100" lIns="38100" spcFirstLastPara="1" rIns="38100" wrap="square" tIns="38100">
            <a:noAutofit/>
          </a:bodyPr>
          <a:lstStyle/>
          <a:p>
            <a:pPr indent="0" lvl="0" marL="0" marR="0" rtl="0" algn="ctr">
              <a:spcBef>
                <a:spcPts val="0"/>
              </a:spcBef>
              <a:spcAft>
                <a:spcPts val="0"/>
              </a:spcAft>
              <a:buClr>
                <a:srgbClr val="7DD3AA"/>
              </a:buClr>
              <a:buSzPts val="850"/>
              <a:buFont typeface="Consolas"/>
              <a:buNone/>
            </a:pPr>
            <a:r>
              <a:rPr b="1" i="0" lang="en-US" sz="1300" u="none" cap="none" strike="noStrike">
                <a:solidFill>
                  <a:srgbClr val="7DD3AA"/>
                </a:solidFill>
                <a:latin typeface="Consolas"/>
                <a:ea typeface="Consolas"/>
                <a:cs typeface="Consolas"/>
                <a:sym typeface="Consolas"/>
              </a:rPr>
              <a:t>execute-sql-on-connection</a:t>
            </a:r>
            <a:endParaRPr b="0" i="0" sz="850" u="none" cap="none" strike="noStrike">
              <a:solidFill>
                <a:schemeClr val="dk1"/>
              </a:solidFill>
              <a:latin typeface="Calibri"/>
              <a:ea typeface="Calibri"/>
              <a:cs typeface="Calibri"/>
              <a:sym typeface="Calibri"/>
            </a:endParaRPr>
          </a:p>
        </p:txBody>
      </p:sp>
      <p:sp>
        <p:nvSpPr>
          <p:cNvPr id="192" name="Google Shape;192;p6"/>
          <p:cNvSpPr/>
          <p:nvPr/>
        </p:nvSpPr>
        <p:spPr>
          <a:xfrm>
            <a:off x="7388352" y="2871216"/>
            <a:ext cx="1527048" cy="548640"/>
          </a:xfrm>
          <a:prstGeom prst="rect">
            <a:avLst/>
          </a:prstGeom>
          <a:solidFill>
            <a:srgbClr val="162840"/>
          </a:solidFill>
          <a:ln cap="flat" cmpd="sng" w="15225">
            <a:solidFill>
              <a:srgbClr val="1E3A5F"/>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93" name="Google Shape;193;p6"/>
          <p:cNvSpPr/>
          <p:nvPr/>
        </p:nvSpPr>
        <p:spPr>
          <a:xfrm>
            <a:off x="7388352" y="2871216"/>
            <a:ext cx="1527048" cy="548640"/>
          </a:xfrm>
          <a:prstGeom prst="rect">
            <a:avLst/>
          </a:prstGeom>
          <a:noFill/>
          <a:ln>
            <a:noFill/>
          </a:ln>
        </p:spPr>
        <p:txBody>
          <a:bodyPr anchorCtr="0" anchor="ctr" bIns="38100" lIns="38100" spcFirstLastPara="1" rIns="38100" wrap="square" tIns="38100">
            <a:noAutofit/>
          </a:bodyPr>
          <a:lstStyle/>
          <a:p>
            <a:pPr indent="0" lvl="0" marL="0" marR="0" rtl="0" algn="ctr">
              <a:spcBef>
                <a:spcPts val="0"/>
              </a:spcBef>
              <a:spcAft>
                <a:spcPts val="0"/>
              </a:spcAft>
              <a:buClr>
                <a:srgbClr val="F4A261"/>
              </a:buClr>
              <a:buSzPts val="850"/>
              <a:buFont typeface="Consolas"/>
              <a:buNone/>
            </a:pPr>
            <a:r>
              <a:rPr b="1" i="0" lang="en-US" sz="1300" u="none" cap="none" strike="noStrike">
                <a:solidFill>
                  <a:srgbClr val="F4A261"/>
                </a:solidFill>
                <a:latin typeface="Consolas"/>
                <a:ea typeface="Consolas"/>
                <a:cs typeface="Consolas"/>
                <a:sym typeface="Consolas"/>
              </a:rPr>
              <a:t>Results</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4A261"/>
              </a:buClr>
              <a:buSzPts val="850"/>
              <a:buFont typeface="Consolas"/>
              <a:buNone/>
            </a:pPr>
            <a:r>
              <a:rPr b="1" i="0" lang="en-US" sz="1300" u="none" cap="none" strike="noStrike">
                <a:solidFill>
                  <a:srgbClr val="F4A261"/>
                </a:solidFill>
                <a:latin typeface="Consolas"/>
                <a:ea typeface="Consolas"/>
                <a:cs typeface="Consolas"/>
                <a:sym typeface="Consolas"/>
              </a:rPr>
              <a:t>(stdout)</a:t>
            </a:r>
            <a:endParaRPr b="0" i="0" sz="850" u="none" cap="none" strike="noStrike">
              <a:solidFill>
                <a:schemeClr val="dk1"/>
              </a:solidFill>
              <a:latin typeface="Calibri"/>
              <a:ea typeface="Calibri"/>
              <a:cs typeface="Calibri"/>
              <a:sym typeface="Calibri"/>
            </a:endParaRPr>
          </a:p>
        </p:txBody>
      </p:sp>
      <p:cxnSp>
        <p:nvCxnSpPr>
          <p:cNvPr id="194" name="Google Shape;194;p6"/>
          <p:cNvCxnSpPr/>
          <p:nvPr/>
        </p:nvCxnSpPr>
        <p:spPr>
          <a:xfrm>
            <a:off x="2148840" y="3145536"/>
            <a:ext cx="91440" cy="0"/>
          </a:xfrm>
          <a:prstGeom prst="straightConnector1">
            <a:avLst/>
          </a:prstGeom>
          <a:noFill/>
          <a:ln cap="flat" cmpd="sng" w="22850">
            <a:solidFill>
              <a:srgbClr val="F4A261"/>
            </a:solidFill>
            <a:prstDash val="solid"/>
            <a:round/>
            <a:headEnd len="sm" w="sm" type="none"/>
            <a:tailEnd len="med" w="med" type="triangle"/>
          </a:ln>
        </p:spPr>
      </p:cxnSp>
      <p:cxnSp>
        <p:nvCxnSpPr>
          <p:cNvPr id="195" name="Google Shape;195;p6"/>
          <p:cNvCxnSpPr/>
          <p:nvPr/>
        </p:nvCxnSpPr>
        <p:spPr>
          <a:xfrm>
            <a:off x="7205472" y="3145536"/>
            <a:ext cx="182880" cy="0"/>
          </a:xfrm>
          <a:prstGeom prst="straightConnector1">
            <a:avLst/>
          </a:prstGeom>
          <a:noFill/>
          <a:ln cap="flat" cmpd="sng" w="22850">
            <a:solidFill>
              <a:srgbClr val="F4A261"/>
            </a:solidFill>
            <a:prstDash val="solid"/>
            <a:round/>
            <a:headEnd len="sm" w="sm" type="none"/>
            <a:tailEnd len="med" w="med" type="triangle"/>
          </a:ln>
        </p:spPr>
      </p:cxnSp>
      <p:sp>
        <p:nvSpPr>
          <p:cNvPr id="196" name="Google Shape;196;p6"/>
          <p:cNvSpPr/>
          <p:nvPr/>
        </p:nvSpPr>
        <p:spPr>
          <a:xfrm>
            <a:off x="256032" y="3767328"/>
            <a:ext cx="685800" cy="548640"/>
          </a:xfrm>
          <a:prstGeom prst="rect">
            <a:avLst/>
          </a:prstGeom>
          <a:solidFill>
            <a:srgbClr val="A855F7"/>
          </a:solidFill>
          <a:ln cap="flat" cmpd="sng" w="12700">
            <a:solidFill>
              <a:srgbClr val="A855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97" name="Google Shape;197;p6"/>
          <p:cNvSpPr/>
          <p:nvPr/>
        </p:nvSpPr>
        <p:spPr>
          <a:xfrm>
            <a:off x="256032" y="3767328"/>
            <a:ext cx="685800" cy="54864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B1F36"/>
              </a:buClr>
              <a:buSzPts val="750"/>
              <a:buFont typeface="Calibri"/>
              <a:buNone/>
            </a:pPr>
            <a:r>
              <a:rPr b="1" i="0" lang="en-US" sz="1300" u="none" cap="none" strike="noStrike">
                <a:solidFill>
                  <a:srgbClr val="0B1F36"/>
                </a:solidFill>
                <a:latin typeface="Calibri"/>
                <a:ea typeface="Calibri"/>
                <a:cs typeface="Calibri"/>
                <a:sym typeface="Calibri"/>
              </a:rPr>
              <a:t>METRICS</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B1F36"/>
              </a:buClr>
              <a:buSzPts val="750"/>
              <a:buFont typeface="Calibri"/>
              <a:buNone/>
            </a:pPr>
            <a:r>
              <a:rPr b="1" i="0" lang="en-US" sz="1300" u="none" cap="none" strike="noStrike">
                <a:solidFill>
                  <a:srgbClr val="0B1F36"/>
                </a:solidFill>
                <a:latin typeface="Calibri"/>
                <a:ea typeface="Calibri"/>
                <a:cs typeface="Calibri"/>
                <a:sym typeface="Calibri"/>
              </a:rPr>
              <a:t>PATH</a:t>
            </a:r>
            <a:endParaRPr b="0" i="0" sz="750" u="none" cap="none" strike="noStrike">
              <a:solidFill>
                <a:schemeClr val="dk1"/>
              </a:solidFill>
              <a:latin typeface="Calibri"/>
              <a:ea typeface="Calibri"/>
              <a:cs typeface="Calibri"/>
              <a:sym typeface="Calibri"/>
            </a:endParaRPr>
          </a:p>
        </p:txBody>
      </p:sp>
      <p:sp>
        <p:nvSpPr>
          <p:cNvPr id="198" name="Google Shape;198;p6"/>
          <p:cNvSpPr/>
          <p:nvPr/>
        </p:nvSpPr>
        <p:spPr>
          <a:xfrm>
            <a:off x="1033272" y="3767328"/>
            <a:ext cx="1115568" cy="548640"/>
          </a:xfrm>
          <a:prstGeom prst="rect">
            <a:avLst/>
          </a:prstGeom>
          <a:solidFill>
            <a:srgbClr val="162840"/>
          </a:solidFill>
          <a:ln cap="flat" cmpd="sng" w="15225">
            <a:solidFill>
              <a:srgbClr val="1E3A5F"/>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199" name="Google Shape;199;p6"/>
          <p:cNvSpPr/>
          <p:nvPr/>
        </p:nvSpPr>
        <p:spPr>
          <a:xfrm>
            <a:off x="1033272" y="3767328"/>
            <a:ext cx="1115568" cy="548640"/>
          </a:xfrm>
          <a:prstGeom prst="rect">
            <a:avLst/>
          </a:prstGeom>
          <a:noFill/>
          <a:ln>
            <a:noFill/>
          </a:ln>
        </p:spPr>
        <p:txBody>
          <a:bodyPr anchorCtr="0" anchor="ctr" bIns="38100" lIns="38100" spcFirstLastPara="1" rIns="38100" wrap="square" tIns="38100">
            <a:noAutofit/>
          </a:bodyPr>
          <a:lstStyle/>
          <a:p>
            <a:pPr indent="0" lvl="0" marL="0" marR="0" rtl="0" algn="ctr">
              <a:spcBef>
                <a:spcPts val="0"/>
              </a:spcBef>
              <a:spcAft>
                <a:spcPts val="0"/>
              </a:spcAft>
              <a:buClr>
                <a:srgbClr val="8BA8C4"/>
              </a:buClr>
              <a:buSzPts val="800"/>
              <a:buFont typeface="Consolas"/>
              <a:buNone/>
            </a:pPr>
            <a:r>
              <a:rPr b="1" i="0" lang="en-US" sz="1400" u="none" cap="none" strike="noStrike">
                <a:solidFill>
                  <a:srgbClr val="8BA8C4"/>
                </a:solidFill>
                <a:latin typeface="Consolas"/>
                <a:ea typeface="Consolas"/>
                <a:cs typeface="Consolas"/>
                <a:sym typeface="Consolas"/>
              </a:rPr>
              <a:t>model.yaml(simple)</a:t>
            </a:r>
            <a:endParaRPr b="0" i="0" sz="800" u="none" cap="none" strike="noStrike">
              <a:solidFill>
                <a:schemeClr val="dk1"/>
              </a:solidFill>
              <a:latin typeface="Calibri"/>
              <a:ea typeface="Calibri"/>
              <a:cs typeface="Calibri"/>
              <a:sym typeface="Calibri"/>
            </a:endParaRPr>
          </a:p>
        </p:txBody>
      </p:sp>
      <p:sp>
        <p:nvSpPr>
          <p:cNvPr id="200" name="Google Shape;200;p6"/>
          <p:cNvSpPr/>
          <p:nvPr/>
        </p:nvSpPr>
        <p:spPr>
          <a:xfrm>
            <a:off x="2240280" y="3767328"/>
            <a:ext cx="4965192" cy="548640"/>
          </a:xfrm>
          <a:prstGeom prst="rect">
            <a:avLst/>
          </a:prstGeom>
          <a:solidFill>
            <a:srgbClr val="162840"/>
          </a:solidFill>
          <a:ln cap="flat" cmpd="sng" w="15225">
            <a:solidFill>
              <a:srgbClr val="1E3A5F"/>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01" name="Google Shape;201;p6"/>
          <p:cNvSpPr/>
          <p:nvPr/>
        </p:nvSpPr>
        <p:spPr>
          <a:xfrm>
            <a:off x="2240280" y="3767328"/>
            <a:ext cx="4965192" cy="548640"/>
          </a:xfrm>
          <a:prstGeom prst="rect">
            <a:avLst/>
          </a:prstGeom>
          <a:noFill/>
          <a:ln>
            <a:noFill/>
          </a:ln>
        </p:spPr>
        <p:txBody>
          <a:bodyPr anchorCtr="0" anchor="ctr" bIns="38100" lIns="38100" spcFirstLastPara="1" rIns="38100" wrap="square" tIns="38100">
            <a:noAutofit/>
          </a:bodyPr>
          <a:lstStyle/>
          <a:p>
            <a:pPr indent="0" lvl="0" marL="0" marR="0" rtl="0" algn="ctr">
              <a:spcBef>
                <a:spcPts val="0"/>
              </a:spcBef>
              <a:spcAft>
                <a:spcPts val="0"/>
              </a:spcAft>
              <a:buClr>
                <a:srgbClr val="A855F7"/>
              </a:buClr>
              <a:buSzPts val="850"/>
              <a:buFont typeface="Consolas"/>
              <a:buNone/>
            </a:pPr>
            <a:r>
              <a:rPr b="1" i="0" lang="en-US" sz="1300" u="none" cap="none" strike="noStrike">
                <a:solidFill>
                  <a:srgbClr val="A855F7"/>
                </a:solidFill>
                <a:latin typeface="Consolas"/>
                <a:ea typeface="Consolas"/>
                <a:cs typeface="Consolas"/>
                <a:sym typeface="Consolas"/>
              </a:rPr>
              <a:t>generate-metrics-from-model</a:t>
            </a:r>
            <a:endParaRPr b="0" i="0" sz="850" u="none" cap="none" strike="noStrike">
              <a:solidFill>
                <a:schemeClr val="dk1"/>
              </a:solidFill>
              <a:latin typeface="Calibri"/>
              <a:ea typeface="Calibri"/>
              <a:cs typeface="Calibri"/>
              <a:sym typeface="Calibri"/>
            </a:endParaRPr>
          </a:p>
        </p:txBody>
      </p:sp>
      <p:sp>
        <p:nvSpPr>
          <p:cNvPr id="202" name="Google Shape;202;p6"/>
          <p:cNvSpPr/>
          <p:nvPr/>
        </p:nvSpPr>
        <p:spPr>
          <a:xfrm>
            <a:off x="7388352" y="3767328"/>
            <a:ext cx="1527048" cy="548640"/>
          </a:xfrm>
          <a:prstGeom prst="rect">
            <a:avLst/>
          </a:prstGeom>
          <a:solidFill>
            <a:srgbClr val="162840"/>
          </a:solidFill>
          <a:ln cap="flat" cmpd="sng" w="15225">
            <a:solidFill>
              <a:srgbClr val="1E3A5F"/>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03" name="Google Shape;203;p6"/>
          <p:cNvSpPr/>
          <p:nvPr/>
        </p:nvSpPr>
        <p:spPr>
          <a:xfrm>
            <a:off x="7388352" y="3767328"/>
            <a:ext cx="1527048" cy="548640"/>
          </a:xfrm>
          <a:prstGeom prst="rect">
            <a:avLst/>
          </a:prstGeom>
          <a:noFill/>
          <a:ln>
            <a:noFill/>
          </a:ln>
        </p:spPr>
        <p:txBody>
          <a:bodyPr anchorCtr="0" anchor="ctr" bIns="38100" lIns="38100" spcFirstLastPara="1" rIns="38100" wrap="square" tIns="38100">
            <a:noAutofit/>
          </a:bodyPr>
          <a:lstStyle/>
          <a:p>
            <a:pPr indent="0" lvl="0" marL="0" marR="0" rtl="0" algn="ctr">
              <a:spcBef>
                <a:spcPts val="0"/>
              </a:spcBef>
              <a:spcAft>
                <a:spcPts val="0"/>
              </a:spcAft>
              <a:buClr>
                <a:srgbClr val="A855F7"/>
              </a:buClr>
              <a:buSzPts val="850"/>
              <a:buFont typeface="Consolas"/>
              <a:buNone/>
            </a:pPr>
            <a:r>
              <a:rPr b="1" i="0" lang="en-US" sz="1300" u="none" cap="none" strike="noStrike">
                <a:solidFill>
                  <a:srgbClr val="A855F7"/>
                </a:solidFill>
                <a:latin typeface="Consolas"/>
                <a:ea typeface="Consolas"/>
                <a:cs typeface="Consolas"/>
                <a:sym typeface="Consolas"/>
              </a:rPr>
              <a:t>metrics/</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A855F7"/>
              </a:buClr>
              <a:buSzPts val="850"/>
              <a:buFont typeface="Consolas"/>
              <a:buNone/>
            </a:pPr>
            <a:r>
              <a:rPr b="1" i="0" lang="en-US" sz="1300" u="none" cap="none" strike="noStrike">
                <a:solidFill>
                  <a:srgbClr val="A855F7"/>
                </a:solidFill>
                <a:latin typeface="Consolas"/>
                <a:ea typeface="Consolas"/>
                <a:cs typeface="Consolas"/>
                <a:sym typeface="Consolas"/>
              </a:rPr>
              <a:t>*.yml</a:t>
            </a:r>
            <a:endParaRPr b="0" i="0" sz="850" u="none" cap="none" strike="noStrike">
              <a:solidFill>
                <a:schemeClr val="dk1"/>
              </a:solidFill>
              <a:latin typeface="Calibri"/>
              <a:ea typeface="Calibri"/>
              <a:cs typeface="Calibri"/>
              <a:sym typeface="Calibri"/>
            </a:endParaRPr>
          </a:p>
        </p:txBody>
      </p:sp>
      <p:cxnSp>
        <p:nvCxnSpPr>
          <p:cNvPr id="204" name="Google Shape;204;p6"/>
          <p:cNvCxnSpPr/>
          <p:nvPr/>
        </p:nvCxnSpPr>
        <p:spPr>
          <a:xfrm>
            <a:off x="2148840" y="4041648"/>
            <a:ext cx="91440" cy="0"/>
          </a:xfrm>
          <a:prstGeom prst="straightConnector1">
            <a:avLst/>
          </a:prstGeom>
          <a:noFill/>
          <a:ln cap="flat" cmpd="sng" w="22850">
            <a:solidFill>
              <a:srgbClr val="A855F7"/>
            </a:solidFill>
            <a:prstDash val="solid"/>
            <a:round/>
            <a:headEnd len="sm" w="sm" type="none"/>
            <a:tailEnd len="med" w="med" type="triangle"/>
          </a:ln>
        </p:spPr>
      </p:cxnSp>
      <p:cxnSp>
        <p:nvCxnSpPr>
          <p:cNvPr id="205" name="Google Shape;205;p6"/>
          <p:cNvCxnSpPr/>
          <p:nvPr/>
        </p:nvCxnSpPr>
        <p:spPr>
          <a:xfrm>
            <a:off x="7205472" y="4041648"/>
            <a:ext cx="182880" cy="0"/>
          </a:xfrm>
          <a:prstGeom prst="straightConnector1">
            <a:avLst/>
          </a:prstGeom>
          <a:noFill/>
          <a:ln cap="flat" cmpd="sng" w="22850">
            <a:solidFill>
              <a:srgbClr val="A855F7"/>
            </a:solidFill>
            <a:prstDash val="solid"/>
            <a:round/>
            <a:headEnd len="sm" w="sm" type="none"/>
            <a:tailEnd len="med" w="med" type="triangle"/>
          </a:ln>
        </p:spPr>
      </p:cxnSp>
      <p:sp>
        <p:nvSpPr>
          <p:cNvPr id="206" name="Google Shape;206;p6"/>
          <p:cNvSpPr/>
          <p:nvPr/>
        </p:nvSpPr>
        <p:spPr>
          <a:xfrm>
            <a:off x="274320" y="4489704"/>
            <a:ext cx="164592" cy="164592"/>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07" name="Google Shape;207;p6"/>
          <p:cNvSpPr/>
          <p:nvPr/>
        </p:nvSpPr>
        <p:spPr>
          <a:xfrm>
            <a:off x="512064" y="4443984"/>
            <a:ext cx="1463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8C4"/>
              </a:buClr>
              <a:buSzPts val="850"/>
              <a:buFont typeface="Calibri"/>
              <a:buNone/>
            </a:pPr>
            <a:r>
              <a:rPr b="0" i="0" lang="en-US" sz="1300" u="none" cap="none" strike="noStrike">
                <a:solidFill>
                  <a:srgbClr val="8BA8C4"/>
                </a:solidFill>
                <a:latin typeface="Calibri"/>
                <a:ea typeface="Calibri"/>
                <a:cs typeface="Calibri"/>
                <a:sym typeface="Calibri"/>
              </a:rPr>
              <a:t>Source / Input</a:t>
            </a:r>
            <a:endParaRPr b="0" i="0" sz="850" u="none" cap="none" strike="noStrike">
              <a:solidFill>
                <a:schemeClr val="dk1"/>
              </a:solidFill>
              <a:latin typeface="Calibri"/>
              <a:ea typeface="Calibri"/>
              <a:cs typeface="Calibri"/>
              <a:sym typeface="Calibri"/>
            </a:endParaRPr>
          </a:p>
        </p:txBody>
      </p:sp>
      <p:sp>
        <p:nvSpPr>
          <p:cNvPr id="208" name="Google Shape;208;p6"/>
          <p:cNvSpPr/>
          <p:nvPr/>
        </p:nvSpPr>
        <p:spPr>
          <a:xfrm>
            <a:off x="2011680" y="4489704"/>
            <a:ext cx="164592" cy="164592"/>
          </a:xfrm>
          <a:prstGeom prst="rect">
            <a:avLst/>
          </a:prstGeom>
          <a:solidFill>
            <a:srgbClr val="7DD3AA"/>
          </a:solidFill>
          <a:ln cap="flat" cmpd="sng" w="12700">
            <a:solidFill>
              <a:srgbClr val="7DD3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09" name="Google Shape;209;p6"/>
          <p:cNvSpPr/>
          <p:nvPr/>
        </p:nvSpPr>
        <p:spPr>
          <a:xfrm>
            <a:off x="2249424" y="4443984"/>
            <a:ext cx="1463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8C4"/>
              </a:buClr>
              <a:buSzPts val="850"/>
              <a:buFont typeface="Calibri"/>
              <a:buNone/>
            </a:pPr>
            <a:r>
              <a:rPr b="0" i="0" lang="en-US" sz="1300" u="none" cap="none" strike="noStrike">
                <a:solidFill>
                  <a:srgbClr val="8BA8C4"/>
                </a:solidFill>
                <a:latin typeface="Calibri"/>
                <a:ea typeface="Calibri"/>
                <a:cs typeface="Calibri"/>
                <a:sym typeface="Calibri"/>
              </a:rPr>
              <a:t>CLI Operation</a:t>
            </a:r>
            <a:endParaRPr b="0" i="0" sz="850" u="none" cap="none" strike="noStrike">
              <a:solidFill>
                <a:schemeClr val="dk1"/>
              </a:solidFill>
              <a:latin typeface="Calibri"/>
              <a:ea typeface="Calibri"/>
              <a:cs typeface="Calibri"/>
              <a:sym typeface="Calibri"/>
            </a:endParaRPr>
          </a:p>
        </p:txBody>
      </p:sp>
      <p:sp>
        <p:nvSpPr>
          <p:cNvPr id="210" name="Google Shape;210;p6"/>
          <p:cNvSpPr/>
          <p:nvPr/>
        </p:nvSpPr>
        <p:spPr>
          <a:xfrm>
            <a:off x="3749040" y="4489704"/>
            <a:ext cx="164592" cy="164592"/>
          </a:xfrm>
          <a:prstGeom prst="rect">
            <a:avLst/>
          </a:prstGeom>
          <a:solidFill>
            <a:srgbClr val="2EC278"/>
          </a:solidFill>
          <a:ln cap="flat" cmpd="sng" w="12700">
            <a:solidFill>
              <a:srgbClr val="2EC2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11" name="Google Shape;211;p6"/>
          <p:cNvSpPr/>
          <p:nvPr/>
        </p:nvSpPr>
        <p:spPr>
          <a:xfrm>
            <a:off x="3986784" y="4443984"/>
            <a:ext cx="1463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8C4"/>
              </a:buClr>
              <a:buSzPts val="850"/>
              <a:buFont typeface="Calibri"/>
              <a:buNone/>
            </a:pPr>
            <a:r>
              <a:rPr b="0" i="0" lang="en-US" sz="1300" u="none" cap="none" strike="noStrike">
                <a:solidFill>
                  <a:srgbClr val="8BA8C4"/>
                </a:solidFill>
                <a:latin typeface="Calibri"/>
                <a:ea typeface="Calibri"/>
                <a:cs typeface="Calibri"/>
                <a:sym typeface="Calibri"/>
              </a:rPr>
              <a:t>SML Output</a:t>
            </a:r>
            <a:endParaRPr b="0" i="0" sz="850" u="none" cap="none" strike="noStrike">
              <a:solidFill>
                <a:schemeClr val="dk1"/>
              </a:solidFill>
              <a:latin typeface="Calibri"/>
              <a:ea typeface="Calibri"/>
              <a:cs typeface="Calibri"/>
              <a:sym typeface="Calibri"/>
            </a:endParaRPr>
          </a:p>
        </p:txBody>
      </p:sp>
      <p:sp>
        <p:nvSpPr>
          <p:cNvPr id="212" name="Google Shape;212;p6"/>
          <p:cNvSpPr/>
          <p:nvPr/>
        </p:nvSpPr>
        <p:spPr>
          <a:xfrm>
            <a:off x="5486400" y="4489704"/>
            <a:ext cx="164592" cy="164592"/>
          </a:xfrm>
          <a:prstGeom prst="rect">
            <a:avLst/>
          </a:prstGeom>
          <a:solidFill>
            <a:srgbClr val="F4A261"/>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13" name="Google Shape;213;p6"/>
          <p:cNvSpPr/>
          <p:nvPr/>
        </p:nvSpPr>
        <p:spPr>
          <a:xfrm>
            <a:off x="5724144" y="4443984"/>
            <a:ext cx="1463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8C4"/>
              </a:buClr>
              <a:buSzPts val="850"/>
              <a:buFont typeface="Calibri"/>
              <a:buNone/>
            </a:pPr>
            <a:r>
              <a:rPr b="0" i="0" lang="en-US" sz="1300" u="none" cap="none" strike="noStrike">
                <a:solidFill>
                  <a:srgbClr val="8BA8C4"/>
                </a:solidFill>
                <a:latin typeface="Calibri"/>
                <a:ea typeface="Calibri"/>
                <a:cs typeface="Calibri"/>
                <a:sym typeface="Calibri"/>
              </a:rPr>
              <a:t>SQL / Other</a:t>
            </a:r>
            <a:endParaRPr b="0" i="0" sz="850" u="none" cap="none" strike="noStrike">
              <a:solidFill>
                <a:schemeClr val="dk1"/>
              </a:solidFill>
              <a:latin typeface="Calibri"/>
              <a:ea typeface="Calibri"/>
              <a:cs typeface="Calibri"/>
              <a:sym typeface="Calibri"/>
            </a:endParaRPr>
          </a:p>
        </p:txBody>
      </p:sp>
      <p:sp>
        <p:nvSpPr>
          <p:cNvPr id="214" name="Google Shape;214;p6"/>
          <p:cNvSpPr/>
          <p:nvPr/>
        </p:nvSpPr>
        <p:spPr>
          <a:xfrm>
            <a:off x="7223760" y="4489704"/>
            <a:ext cx="164592" cy="164592"/>
          </a:xfrm>
          <a:prstGeom prst="rect">
            <a:avLst/>
          </a:prstGeom>
          <a:solidFill>
            <a:srgbClr val="A855F7"/>
          </a:solidFill>
          <a:ln cap="flat" cmpd="sng" w="12700">
            <a:solidFill>
              <a:srgbClr val="A855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15" name="Google Shape;215;p6"/>
          <p:cNvSpPr/>
          <p:nvPr/>
        </p:nvSpPr>
        <p:spPr>
          <a:xfrm>
            <a:off x="7461504" y="4443984"/>
            <a:ext cx="1463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8C4"/>
              </a:buClr>
              <a:buSzPts val="850"/>
              <a:buFont typeface="Calibri"/>
              <a:buNone/>
            </a:pPr>
            <a:r>
              <a:rPr b="0" i="0" lang="en-US" sz="1300" u="none" cap="none" strike="noStrike">
                <a:solidFill>
                  <a:srgbClr val="8BA8C4"/>
                </a:solidFill>
                <a:latin typeface="Calibri"/>
                <a:ea typeface="Calibri"/>
                <a:cs typeface="Calibri"/>
                <a:sym typeface="Calibri"/>
              </a:rPr>
              <a:t>Metrics Output</a:t>
            </a:r>
            <a:endParaRPr b="0" i="0" sz="850" u="none" cap="none" strike="noStrike">
              <a:solidFill>
                <a:schemeClr val="dk1"/>
              </a:solidFill>
              <a:latin typeface="Calibri"/>
              <a:ea typeface="Calibri"/>
              <a:cs typeface="Calibri"/>
              <a:sym typeface="Calibri"/>
            </a:endParaRPr>
          </a:p>
        </p:txBody>
      </p:sp>
      <p:sp>
        <p:nvSpPr>
          <p:cNvPr id="216" name="Google Shape;216;p6"/>
          <p:cNvSpPr/>
          <p:nvPr/>
        </p:nvSpPr>
        <p:spPr>
          <a:xfrm>
            <a:off x="0" y="4892040"/>
            <a:ext cx="9144000" cy="251460"/>
          </a:xfrm>
          <a:prstGeom prst="rect">
            <a:avLst/>
          </a:prstGeom>
          <a:solidFill>
            <a:srgbClr val="132D4F"/>
          </a:solidFill>
          <a:ln cap="flat" cmpd="sng" w="12700">
            <a:solidFill>
              <a:srgbClr val="132D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17" name="Google Shape;217;p6"/>
          <p:cNvSpPr/>
          <p:nvPr/>
        </p:nvSpPr>
        <p:spPr>
          <a:xfrm>
            <a:off x="1645920" y="4892040"/>
            <a:ext cx="7315200" cy="2514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A8C4"/>
              </a:buClr>
              <a:buSzPts val="750"/>
              <a:buFont typeface="Calibri"/>
              <a:buNone/>
            </a:pPr>
            <a:r>
              <a:rPr b="0" i="0" lang="en-US" sz="1300" u="none" cap="none" strike="noStrike">
                <a:solidFill>
                  <a:srgbClr val="8BA8C4"/>
                </a:solidFill>
                <a:latin typeface="Calibri"/>
                <a:ea typeface="Calibri"/>
                <a:cs typeface="Calibri"/>
                <a:sym typeface="Calibri"/>
              </a:rPr>
              <a:t>PS Template Workflow Tutorials  ·  Track 2 of 4</a:t>
            </a:r>
            <a:endParaRPr b="0" i="0" sz="750" u="none" cap="none" strike="noStrike">
              <a:solidFill>
                <a:schemeClr val="dk1"/>
              </a:solidFill>
              <a:latin typeface="Calibri"/>
              <a:ea typeface="Calibri"/>
              <a:cs typeface="Calibri"/>
              <a:sym typeface="Calibri"/>
            </a:endParaRPr>
          </a:p>
        </p:txBody>
      </p:sp>
      <p:pic>
        <p:nvPicPr>
          <p:cNvPr descr="/tmp/atscale_logo.svg" id="218" name="Google Shape;218;p6"/>
          <p:cNvPicPr preferRelativeResize="0"/>
          <p:nvPr/>
        </p:nvPicPr>
        <p:blipFill rotWithShape="1">
          <a:blip r:embed="rId3">
            <a:alphaModFix/>
          </a:blip>
          <a:srcRect b="0" l="0" r="0" t="0"/>
          <a:stretch/>
        </p:blipFill>
        <p:spPr>
          <a:xfrm>
            <a:off x="228600" y="4924044"/>
            <a:ext cx="1188717" cy="15544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6"/>
        </a:solidFill>
      </p:bgPr>
    </p:bg>
    <p:spTree>
      <p:nvGrpSpPr>
        <p:cNvPr id="223" name="Shape 223"/>
        <p:cNvGrpSpPr/>
        <p:nvPr/>
      </p:nvGrpSpPr>
      <p:grpSpPr>
        <a:xfrm>
          <a:off x="0" y="0"/>
          <a:ext cx="0" cy="0"/>
          <a:chOff x="0" y="0"/>
          <a:chExt cx="0" cy="0"/>
        </a:xfrm>
      </p:grpSpPr>
      <p:sp>
        <p:nvSpPr>
          <p:cNvPr id="224" name="Google Shape;224;p7"/>
          <p:cNvSpPr/>
          <p:nvPr/>
        </p:nvSpPr>
        <p:spPr>
          <a:xfrm>
            <a:off x="0" y="0"/>
            <a:ext cx="9144000" cy="50292"/>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25" name="Google Shape;225;p7"/>
          <p:cNvSpPr/>
          <p:nvPr/>
        </p:nvSpPr>
        <p:spPr>
          <a:xfrm>
            <a:off x="0" y="50292"/>
            <a:ext cx="9144000" cy="822960"/>
          </a:xfrm>
          <a:prstGeom prst="rect">
            <a:avLst/>
          </a:prstGeom>
          <a:solidFill>
            <a:srgbClr val="132D4F"/>
          </a:solidFill>
          <a:ln cap="flat" cmpd="sng" w="12700">
            <a:solidFill>
              <a:srgbClr val="132D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26" name="Google Shape;226;p7"/>
          <p:cNvSpPr/>
          <p:nvPr/>
        </p:nvSpPr>
        <p:spPr>
          <a:xfrm>
            <a:off x="457200" y="91440"/>
            <a:ext cx="777240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Calibri"/>
              <a:buNone/>
            </a:pPr>
            <a:r>
              <a:rPr b="1" i="0" lang="en-US" sz="3600" u="none" cap="none" strike="noStrike">
                <a:solidFill>
                  <a:srgbClr val="FFFFFF"/>
                </a:solidFill>
                <a:latin typeface="Calibri"/>
                <a:ea typeface="Calibri"/>
                <a:cs typeface="Calibri"/>
                <a:sym typeface="Calibri"/>
              </a:rPr>
              <a:t>Try It Yourself</a:t>
            </a:r>
            <a:endParaRPr b="0" i="0" sz="3000" u="none" cap="none" strike="noStrike">
              <a:solidFill>
                <a:schemeClr val="dk1"/>
              </a:solidFill>
              <a:latin typeface="Calibri"/>
              <a:ea typeface="Calibri"/>
              <a:cs typeface="Calibri"/>
              <a:sym typeface="Calibri"/>
            </a:endParaRPr>
          </a:p>
        </p:txBody>
      </p:sp>
      <p:sp>
        <p:nvSpPr>
          <p:cNvPr id="227" name="Google Shape;227;p7"/>
          <p:cNvSpPr/>
          <p:nvPr/>
        </p:nvSpPr>
        <p:spPr>
          <a:xfrm>
            <a:off x="457200" y="594360"/>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4D8"/>
              </a:buClr>
              <a:buSzPts val="800"/>
              <a:buFont typeface="Calibri"/>
              <a:buNone/>
            </a:pPr>
            <a:r>
              <a:rPr b="1" i="0" lang="en-US" sz="1000" u="none" cap="none" strike="noStrike">
                <a:solidFill>
                  <a:srgbClr val="00B4D8"/>
                </a:solidFill>
                <a:latin typeface="Calibri"/>
                <a:ea typeface="Calibri"/>
                <a:cs typeface="Calibri"/>
                <a:sym typeface="Calibri"/>
              </a:rPr>
              <a:t>TRACK 2  ·  SML CREATION &amp; MANIPULATION</a:t>
            </a:r>
            <a:endParaRPr b="0" i="0" sz="800" u="none" cap="none" strike="noStrike">
              <a:solidFill>
                <a:schemeClr val="dk1"/>
              </a:solidFill>
              <a:latin typeface="Calibri"/>
              <a:ea typeface="Calibri"/>
              <a:cs typeface="Calibri"/>
              <a:sym typeface="Calibri"/>
            </a:endParaRPr>
          </a:p>
        </p:txBody>
      </p:sp>
      <p:sp>
        <p:nvSpPr>
          <p:cNvPr id="228" name="Google Shape;228;p7"/>
          <p:cNvSpPr/>
          <p:nvPr/>
        </p:nvSpPr>
        <p:spPr>
          <a:xfrm>
            <a:off x="274320" y="987552"/>
            <a:ext cx="8595360" cy="667512"/>
          </a:xfrm>
          <a:prstGeom prst="rect">
            <a:avLst/>
          </a:prstGeom>
          <a:solidFill>
            <a:srgbClr val="162840"/>
          </a:solidFill>
          <a:ln cap="flat" cmpd="sng" w="12700">
            <a:solidFill>
              <a:srgbClr val="1A2E44"/>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29" name="Google Shape;229;p7"/>
          <p:cNvSpPr/>
          <p:nvPr/>
        </p:nvSpPr>
        <p:spPr>
          <a:xfrm>
            <a:off x="274320" y="987552"/>
            <a:ext cx="502920" cy="667512"/>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30" name="Google Shape;230;p7"/>
          <p:cNvSpPr/>
          <p:nvPr/>
        </p:nvSpPr>
        <p:spPr>
          <a:xfrm>
            <a:off x="274320" y="987552"/>
            <a:ext cx="502920" cy="6675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1</a:t>
            </a:r>
            <a:endParaRPr b="0" i="0" sz="2000" u="none" cap="none" strike="noStrike">
              <a:solidFill>
                <a:schemeClr val="dk1"/>
              </a:solidFill>
              <a:latin typeface="Calibri"/>
              <a:ea typeface="Calibri"/>
              <a:cs typeface="Calibri"/>
              <a:sym typeface="Calibri"/>
            </a:endParaRPr>
          </a:p>
        </p:txBody>
      </p:sp>
      <p:sp>
        <p:nvSpPr>
          <p:cNvPr id="231" name="Google Shape;231;p7"/>
          <p:cNvSpPr/>
          <p:nvPr/>
        </p:nvSpPr>
        <p:spPr>
          <a:xfrm>
            <a:off x="896112" y="1042416"/>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300" u="none" cap="none" strike="noStrike">
                <a:solidFill>
                  <a:srgbClr val="FFFFFF"/>
                </a:solidFill>
                <a:latin typeface="Calibri"/>
                <a:ea typeface="Calibri"/>
                <a:cs typeface="Calibri"/>
                <a:sym typeface="Calibri"/>
              </a:rPr>
              <a:t>Grab the schema from your database</a:t>
            </a:r>
            <a:endParaRPr b="0" i="0" sz="1100" u="none" cap="none" strike="noStrike">
              <a:solidFill>
                <a:schemeClr val="dk1"/>
              </a:solidFill>
              <a:latin typeface="Calibri"/>
              <a:ea typeface="Calibri"/>
              <a:cs typeface="Calibri"/>
              <a:sym typeface="Calibri"/>
            </a:endParaRPr>
          </a:p>
        </p:txBody>
      </p:sp>
      <p:sp>
        <p:nvSpPr>
          <p:cNvPr id="232" name="Google Shape;232;p7"/>
          <p:cNvSpPr/>
          <p:nvPr/>
        </p:nvSpPr>
        <p:spPr>
          <a:xfrm>
            <a:off x="896112" y="1316736"/>
            <a:ext cx="3657600" cy="2834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A8C4"/>
              </a:buClr>
              <a:buSzPts val="900"/>
              <a:buFont typeface="Calibri"/>
              <a:buNone/>
            </a:pPr>
            <a:r>
              <a:rPr b="0" i="1" lang="en-US" sz="1000" u="none" cap="none" strike="noStrike">
                <a:solidFill>
                  <a:srgbClr val="8BA8C4"/>
                </a:solidFill>
                <a:latin typeface="Calibri"/>
                <a:ea typeface="Calibri"/>
                <a:cs typeface="Calibri"/>
                <a:sym typeface="Calibri"/>
              </a:rPr>
              <a:t>Pulls CREATE TABLE statements from your Snowflake or PostgreSQL schema</a:t>
            </a:r>
            <a:endParaRPr b="0" i="0" sz="900" u="none" cap="none" strike="noStrike">
              <a:solidFill>
                <a:schemeClr val="dk1"/>
              </a:solidFill>
              <a:latin typeface="Calibri"/>
              <a:ea typeface="Calibri"/>
              <a:cs typeface="Calibri"/>
              <a:sym typeface="Calibri"/>
            </a:endParaRPr>
          </a:p>
        </p:txBody>
      </p:sp>
      <p:sp>
        <p:nvSpPr>
          <p:cNvPr id="233" name="Google Shape;233;p7"/>
          <p:cNvSpPr/>
          <p:nvPr/>
        </p:nvSpPr>
        <p:spPr>
          <a:xfrm>
            <a:off x="4663440" y="1060704"/>
            <a:ext cx="4069080" cy="521208"/>
          </a:xfrm>
          <a:prstGeom prst="rect">
            <a:avLst/>
          </a:prstGeom>
          <a:solidFill>
            <a:srgbClr val="080F1A"/>
          </a:solidFill>
          <a:ln cap="flat" cmpd="sng" w="12700">
            <a:solidFill>
              <a:srgbClr val="1A2E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34" name="Google Shape;234;p7"/>
          <p:cNvSpPr/>
          <p:nvPr/>
        </p:nvSpPr>
        <p:spPr>
          <a:xfrm>
            <a:off x="4773168" y="1060704"/>
            <a:ext cx="384048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4D8"/>
              </a:buClr>
              <a:buSzPts val="750"/>
              <a:buFont typeface="Consolas"/>
              <a:buNone/>
            </a:pPr>
            <a:r>
              <a:rPr b="1" i="0" lang="en-US" sz="900" u="none" cap="none" strike="noStrike">
                <a:solidFill>
                  <a:srgbClr val="00B4D8"/>
                </a:solidFill>
                <a:latin typeface="Consolas"/>
                <a:ea typeface="Consolas"/>
                <a:cs typeface="Consolas"/>
                <a:sym typeface="Consolas"/>
              </a:rPr>
              <a:t>$ </a:t>
            </a:r>
            <a:r>
              <a:rPr b="0" i="0" lang="en-US" sz="900" u="none" cap="none" strike="noStrike">
                <a:solidFill>
                  <a:srgbClr val="7DD3AA"/>
                </a:solidFill>
                <a:latin typeface="Consolas"/>
                <a:ea typeface="Consolas"/>
                <a:cs typeface="Consolas"/>
                <a:sym typeface="Consolas"/>
              </a:rPr>
              <a:t>./atscale-utils extract-ddl-from-connection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AA"/>
              </a:buClr>
              <a:buSzPts val="750"/>
              <a:buFont typeface="Consolas"/>
              <a:buNone/>
            </a:pPr>
            <a:r>
              <a:rPr b="0" i="0" lang="en-US" sz="900" u="none" cap="none" strike="noStrike">
                <a:solidFill>
                  <a:srgbClr val="7DD3AA"/>
                </a:solidFill>
                <a:latin typeface="Consolas"/>
                <a:ea typeface="Consolas"/>
                <a:cs typeface="Consolas"/>
                <a:sym typeface="Consolas"/>
              </a:rPr>
              <a:t>  --connection-file ./connections.yaml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AA"/>
              </a:buClr>
              <a:buSzPts val="750"/>
              <a:buFont typeface="Consolas"/>
              <a:buNone/>
            </a:pPr>
            <a:r>
              <a:rPr b="0" i="0" lang="en-US" sz="900" u="none" cap="none" strike="noStrike">
                <a:solidFill>
                  <a:srgbClr val="7DD3AA"/>
                </a:solidFill>
                <a:latin typeface="Consolas"/>
                <a:ea typeface="Consolas"/>
                <a:cs typeface="Consolas"/>
                <a:sym typeface="Consolas"/>
              </a:rPr>
              <a:t>  --connection-name snow_adventure --schema AS_ADVENTURE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AA"/>
              </a:buClr>
              <a:buSzPts val="750"/>
              <a:buFont typeface="Consolas"/>
              <a:buNone/>
            </a:pPr>
            <a:r>
              <a:rPr b="0" i="0" lang="en-US" sz="900" u="none" cap="none" strike="noStrike">
                <a:solidFill>
                  <a:srgbClr val="7DD3AA"/>
                </a:solidFill>
                <a:latin typeface="Consolas"/>
                <a:ea typeface="Consolas"/>
                <a:cs typeface="Consolas"/>
                <a:sym typeface="Consolas"/>
              </a:rPr>
              <a:t>  --output-file ./demo/schema.ddl</a:t>
            </a:r>
            <a:endParaRPr b="0" i="0" sz="750" u="none" cap="none" strike="noStrike">
              <a:solidFill>
                <a:schemeClr val="dk1"/>
              </a:solidFill>
              <a:latin typeface="Calibri"/>
              <a:ea typeface="Calibri"/>
              <a:cs typeface="Calibri"/>
              <a:sym typeface="Calibri"/>
            </a:endParaRPr>
          </a:p>
        </p:txBody>
      </p:sp>
      <p:sp>
        <p:nvSpPr>
          <p:cNvPr id="235" name="Google Shape;235;p7"/>
          <p:cNvSpPr/>
          <p:nvPr/>
        </p:nvSpPr>
        <p:spPr>
          <a:xfrm>
            <a:off x="274320" y="1728216"/>
            <a:ext cx="8595360" cy="667512"/>
          </a:xfrm>
          <a:prstGeom prst="rect">
            <a:avLst/>
          </a:prstGeom>
          <a:solidFill>
            <a:srgbClr val="162840"/>
          </a:solidFill>
          <a:ln cap="flat" cmpd="sng" w="19050">
            <a:solidFill>
              <a:srgbClr val="2EC278"/>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36" name="Google Shape;236;p7"/>
          <p:cNvSpPr/>
          <p:nvPr/>
        </p:nvSpPr>
        <p:spPr>
          <a:xfrm>
            <a:off x="274320" y="1728216"/>
            <a:ext cx="502920" cy="667512"/>
          </a:xfrm>
          <a:prstGeom prst="rect">
            <a:avLst/>
          </a:prstGeom>
          <a:solidFill>
            <a:srgbClr val="2EC278"/>
          </a:solidFill>
          <a:ln cap="flat" cmpd="sng" w="12700">
            <a:solidFill>
              <a:srgbClr val="2EC2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37" name="Google Shape;237;p7"/>
          <p:cNvSpPr/>
          <p:nvPr/>
        </p:nvSpPr>
        <p:spPr>
          <a:xfrm>
            <a:off x="274320" y="1728216"/>
            <a:ext cx="502920" cy="6675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2</a:t>
            </a:r>
            <a:endParaRPr b="0" i="0" sz="2000" u="none" cap="none" strike="noStrike">
              <a:solidFill>
                <a:schemeClr val="dk1"/>
              </a:solidFill>
              <a:latin typeface="Calibri"/>
              <a:ea typeface="Calibri"/>
              <a:cs typeface="Calibri"/>
              <a:sym typeface="Calibri"/>
            </a:endParaRPr>
          </a:p>
        </p:txBody>
      </p:sp>
      <p:sp>
        <p:nvSpPr>
          <p:cNvPr id="238" name="Google Shape;238;p7"/>
          <p:cNvSpPr/>
          <p:nvPr/>
        </p:nvSpPr>
        <p:spPr>
          <a:xfrm>
            <a:off x="896112" y="1783080"/>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C278"/>
              </a:buClr>
              <a:buSzPts val="1100"/>
              <a:buFont typeface="Calibri"/>
              <a:buNone/>
            </a:pPr>
            <a:r>
              <a:rPr b="1" i="0" lang="en-US" sz="1300" u="none" cap="none" strike="noStrike">
                <a:solidFill>
                  <a:srgbClr val="2EC278"/>
                </a:solidFill>
                <a:latin typeface="Calibri"/>
                <a:ea typeface="Calibri"/>
                <a:cs typeface="Calibri"/>
                <a:sym typeface="Calibri"/>
              </a:rPr>
              <a:t>Turn the DDL into a full semantic model</a:t>
            </a:r>
            <a:endParaRPr b="0" i="0" sz="1100" u="none" cap="none" strike="noStrike">
              <a:solidFill>
                <a:schemeClr val="dk1"/>
              </a:solidFill>
              <a:latin typeface="Calibri"/>
              <a:ea typeface="Calibri"/>
              <a:cs typeface="Calibri"/>
              <a:sym typeface="Calibri"/>
            </a:endParaRPr>
          </a:p>
        </p:txBody>
      </p:sp>
      <p:sp>
        <p:nvSpPr>
          <p:cNvPr id="239" name="Google Shape;239;p7"/>
          <p:cNvSpPr/>
          <p:nvPr/>
        </p:nvSpPr>
        <p:spPr>
          <a:xfrm>
            <a:off x="896112" y="2057400"/>
            <a:ext cx="3657600" cy="2834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A8C4"/>
              </a:buClr>
              <a:buSzPts val="900"/>
              <a:buFont typeface="Calibri"/>
              <a:buNone/>
            </a:pPr>
            <a:r>
              <a:rPr b="0" i="1" lang="en-US" sz="1000" u="none" cap="none" strike="noStrike">
                <a:solidFill>
                  <a:srgbClr val="8BA8C4"/>
                </a:solidFill>
                <a:latin typeface="Calibri"/>
                <a:ea typeface="Calibri"/>
                <a:cs typeface="Calibri"/>
                <a:sym typeface="Calibri"/>
              </a:rPr>
              <a:t>Runs offline against the DDL file. Use --pii-severity and --fact-tables to tune output.</a:t>
            </a:r>
            <a:endParaRPr b="0" i="0" sz="900" u="none" cap="none" strike="noStrike">
              <a:solidFill>
                <a:schemeClr val="dk1"/>
              </a:solidFill>
              <a:latin typeface="Calibri"/>
              <a:ea typeface="Calibri"/>
              <a:cs typeface="Calibri"/>
              <a:sym typeface="Calibri"/>
            </a:endParaRPr>
          </a:p>
        </p:txBody>
      </p:sp>
      <p:sp>
        <p:nvSpPr>
          <p:cNvPr id="240" name="Google Shape;240;p7"/>
          <p:cNvSpPr/>
          <p:nvPr/>
        </p:nvSpPr>
        <p:spPr>
          <a:xfrm>
            <a:off x="4663440" y="1801368"/>
            <a:ext cx="4069080" cy="521208"/>
          </a:xfrm>
          <a:prstGeom prst="rect">
            <a:avLst/>
          </a:prstGeom>
          <a:solidFill>
            <a:srgbClr val="080F1A"/>
          </a:solidFill>
          <a:ln cap="flat" cmpd="sng" w="12700">
            <a:solidFill>
              <a:srgbClr val="1A2E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41" name="Google Shape;241;p7"/>
          <p:cNvSpPr/>
          <p:nvPr/>
        </p:nvSpPr>
        <p:spPr>
          <a:xfrm>
            <a:off x="4773168" y="1801368"/>
            <a:ext cx="384048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4D8"/>
              </a:buClr>
              <a:buSzPts val="750"/>
              <a:buFont typeface="Consolas"/>
              <a:buNone/>
            </a:pPr>
            <a:r>
              <a:rPr b="1" i="0" lang="en-US" sz="900" u="none" cap="none" strike="noStrike">
                <a:solidFill>
                  <a:srgbClr val="00B4D8"/>
                </a:solidFill>
                <a:latin typeface="Consolas"/>
                <a:ea typeface="Consolas"/>
                <a:cs typeface="Consolas"/>
                <a:sym typeface="Consolas"/>
              </a:rPr>
              <a:t>$ </a:t>
            </a:r>
            <a:r>
              <a:rPr b="0" i="0" lang="en-US" sz="900" u="none" cap="none" strike="noStrike">
                <a:solidFill>
                  <a:srgbClr val="7DD3AA"/>
                </a:solidFill>
                <a:latin typeface="Consolas"/>
                <a:ea typeface="Consolas"/>
                <a:cs typeface="Consolas"/>
                <a:sym typeface="Consolas"/>
              </a:rPr>
              <a:t>./atscale-utils generate-sml-from-ddl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AA"/>
              </a:buClr>
              <a:buSzPts val="750"/>
              <a:buFont typeface="Consolas"/>
              <a:buNone/>
            </a:pPr>
            <a:r>
              <a:rPr b="0" i="0" lang="en-US" sz="900" u="none" cap="none" strike="noStrike">
                <a:solidFill>
                  <a:srgbClr val="7DD3AA"/>
                </a:solidFill>
                <a:latin typeface="Consolas"/>
                <a:ea typeface="Consolas"/>
                <a:cs typeface="Consolas"/>
                <a:sym typeface="Consolas"/>
              </a:rPr>
              <a:t>  --ddl-file ./demo/schema.ddl --model-name AdventureModel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AA"/>
              </a:buClr>
              <a:buSzPts val="750"/>
              <a:buFont typeface="Consolas"/>
              <a:buNone/>
            </a:pPr>
            <a:r>
              <a:rPr b="0" i="0" lang="en-US" sz="900" u="none" cap="none" strike="noStrike">
                <a:solidFill>
                  <a:srgbClr val="7DD3AA"/>
                </a:solidFill>
                <a:latin typeface="Consolas"/>
                <a:ea typeface="Consolas"/>
                <a:cs typeface="Consolas"/>
                <a:sym typeface="Consolas"/>
              </a:rPr>
              <a:t>  --output-dir ./demo/sml-output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AA"/>
              </a:buClr>
              <a:buSzPts val="750"/>
              <a:buFont typeface="Consolas"/>
              <a:buNone/>
            </a:pPr>
            <a:r>
              <a:rPr b="0" i="0" lang="en-US" sz="900" u="none" cap="none" strike="noStrike">
                <a:solidFill>
                  <a:srgbClr val="7DD3AA"/>
                </a:solidFill>
                <a:latin typeface="Consolas"/>
                <a:ea typeface="Consolas"/>
                <a:cs typeface="Consolas"/>
                <a:sym typeface="Consolas"/>
              </a:rPr>
              <a:t/>
            </a:r>
            <a:endParaRPr b="0" i="0" sz="750" u="none" cap="none" strike="noStrike">
              <a:solidFill>
                <a:schemeClr val="dk1"/>
              </a:solidFill>
              <a:latin typeface="Calibri"/>
              <a:ea typeface="Calibri"/>
              <a:cs typeface="Calibri"/>
              <a:sym typeface="Calibri"/>
            </a:endParaRPr>
          </a:p>
        </p:txBody>
      </p:sp>
      <p:sp>
        <p:nvSpPr>
          <p:cNvPr id="242" name="Google Shape;242;p7"/>
          <p:cNvSpPr/>
          <p:nvPr/>
        </p:nvSpPr>
        <p:spPr>
          <a:xfrm>
            <a:off x="274320" y="2468880"/>
            <a:ext cx="8595360" cy="667512"/>
          </a:xfrm>
          <a:prstGeom prst="rect">
            <a:avLst/>
          </a:prstGeom>
          <a:solidFill>
            <a:srgbClr val="162840"/>
          </a:solidFill>
          <a:ln cap="flat" cmpd="sng" w="19050">
            <a:solidFill>
              <a:srgbClr val="F4A261"/>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43" name="Google Shape;243;p7"/>
          <p:cNvSpPr/>
          <p:nvPr/>
        </p:nvSpPr>
        <p:spPr>
          <a:xfrm>
            <a:off x="274320" y="2468880"/>
            <a:ext cx="502920" cy="667512"/>
          </a:xfrm>
          <a:prstGeom prst="rect">
            <a:avLst/>
          </a:prstGeom>
          <a:solidFill>
            <a:srgbClr val="F4A261"/>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44" name="Google Shape;244;p7"/>
          <p:cNvSpPr/>
          <p:nvPr/>
        </p:nvSpPr>
        <p:spPr>
          <a:xfrm>
            <a:off x="274320" y="2468880"/>
            <a:ext cx="502920" cy="6675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ALT</a:t>
            </a:r>
            <a:endParaRPr b="0" i="0" sz="1300" u="none" cap="none" strike="noStrike">
              <a:solidFill>
                <a:schemeClr val="dk1"/>
              </a:solidFill>
              <a:latin typeface="Calibri"/>
              <a:ea typeface="Calibri"/>
              <a:cs typeface="Calibri"/>
              <a:sym typeface="Calibri"/>
            </a:endParaRPr>
          </a:p>
        </p:txBody>
      </p:sp>
      <p:sp>
        <p:nvSpPr>
          <p:cNvPr id="245" name="Google Shape;245;p7"/>
          <p:cNvSpPr/>
          <p:nvPr/>
        </p:nvSpPr>
        <p:spPr>
          <a:xfrm>
            <a:off x="896112" y="2523744"/>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100"/>
              <a:buFont typeface="Calibri"/>
              <a:buNone/>
            </a:pPr>
            <a:r>
              <a:rPr b="1" i="0" lang="en-US" sz="1300" u="none" cap="none" strike="noStrike">
                <a:solidFill>
                  <a:srgbClr val="F4A261"/>
                </a:solidFill>
                <a:latin typeface="Calibri"/>
                <a:ea typeface="Calibri"/>
                <a:cs typeface="Calibri"/>
                <a:sym typeface="Calibri"/>
              </a:rPr>
              <a:t>Or skip the file, connect directly</a:t>
            </a:r>
            <a:endParaRPr b="0" i="0" sz="1100" u="none" cap="none" strike="noStrike">
              <a:solidFill>
                <a:schemeClr val="dk1"/>
              </a:solidFill>
              <a:latin typeface="Calibri"/>
              <a:ea typeface="Calibri"/>
              <a:cs typeface="Calibri"/>
              <a:sym typeface="Calibri"/>
            </a:endParaRPr>
          </a:p>
        </p:txBody>
      </p:sp>
      <p:sp>
        <p:nvSpPr>
          <p:cNvPr id="246" name="Google Shape;246;p7"/>
          <p:cNvSpPr/>
          <p:nvPr/>
        </p:nvSpPr>
        <p:spPr>
          <a:xfrm>
            <a:off x="896112" y="2798064"/>
            <a:ext cx="3657600" cy="2834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A8C4"/>
              </a:buClr>
              <a:buSzPts val="900"/>
              <a:buFont typeface="Calibri"/>
              <a:buNone/>
            </a:pPr>
            <a:r>
              <a:rPr b="0" i="1" lang="en-US" sz="1000" u="none" cap="none" strike="noStrike">
                <a:solidFill>
                  <a:srgbClr val="8BA8C4"/>
                </a:solidFill>
                <a:latin typeface="Calibri"/>
                <a:ea typeface="Calibri"/>
                <a:cs typeface="Calibri"/>
                <a:sym typeface="Calibri"/>
              </a:rPr>
              <a:t>Samples live data for sharper type detection. Produces the same SML output as Step 2.</a:t>
            </a:r>
            <a:endParaRPr b="0" i="0" sz="900" u="none" cap="none" strike="noStrike">
              <a:solidFill>
                <a:schemeClr val="dk1"/>
              </a:solidFill>
              <a:latin typeface="Calibri"/>
              <a:ea typeface="Calibri"/>
              <a:cs typeface="Calibri"/>
              <a:sym typeface="Calibri"/>
            </a:endParaRPr>
          </a:p>
        </p:txBody>
      </p:sp>
      <p:sp>
        <p:nvSpPr>
          <p:cNvPr id="247" name="Google Shape;247;p7"/>
          <p:cNvSpPr/>
          <p:nvPr/>
        </p:nvSpPr>
        <p:spPr>
          <a:xfrm>
            <a:off x="4663440" y="2542032"/>
            <a:ext cx="4069080" cy="521208"/>
          </a:xfrm>
          <a:prstGeom prst="rect">
            <a:avLst/>
          </a:prstGeom>
          <a:solidFill>
            <a:srgbClr val="080F1A"/>
          </a:solidFill>
          <a:ln cap="flat" cmpd="sng" w="12700">
            <a:solidFill>
              <a:srgbClr val="1A2E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48" name="Google Shape;248;p7"/>
          <p:cNvSpPr/>
          <p:nvPr/>
        </p:nvSpPr>
        <p:spPr>
          <a:xfrm>
            <a:off x="4773168" y="2542032"/>
            <a:ext cx="384048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4D8"/>
              </a:buClr>
              <a:buSzPts val="750"/>
              <a:buFont typeface="Consolas"/>
              <a:buNone/>
            </a:pPr>
            <a:r>
              <a:rPr b="1" i="0" lang="en-US" sz="900" u="none" cap="none" strike="noStrike">
                <a:solidFill>
                  <a:srgbClr val="00B4D8"/>
                </a:solidFill>
                <a:latin typeface="Consolas"/>
                <a:ea typeface="Consolas"/>
                <a:cs typeface="Consolas"/>
                <a:sym typeface="Consolas"/>
              </a:rPr>
              <a:t>$ </a:t>
            </a:r>
            <a:r>
              <a:rPr b="0" i="0" lang="en-US" sz="900" u="none" cap="none" strike="noStrike">
                <a:solidFill>
                  <a:srgbClr val="7DD3AA"/>
                </a:solidFill>
                <a:latin typeface="Consolas"/>
                <a:ea typeface="Consolas"/>
                <a:cs typeface="Consolas"/>
                <a:sym typeface="Consolas"/>
              </a:rPr>
              <a:t>./atscale-utils generate-sml-from-connection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AA"/>
              </a:buClr>
              <a:buSzPts val="750"/>
              <a:buFont typeface="Consolas"/>
              <a:buNone/>
            </a:pPr>
            <a:r>
              <a:rPr b="0" i="0" lang="en-US" sz="900" u="none" cap="none" strike="noStrike">
                <a:solidFill>
                  <a:srgbClr val="7DD3AA"/>
                </a:solidFill>
                <a:latin typeface="Consolas"/>
                <a:ea typeface="Consolas"/>
                <a:cs typeface="Consolas"/>
                <a:sym typeface="Consolas"/>
              </a:rPr>
              <a:t>  --connection-file ./connections.yaml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AA"/>
              </a:buClr>
              <a:buSzPts val="750"/>
              <a:buFont typeface="Consolas"/>
              <a:buNone/>
            </a:pPr>
            <a:r>
              <a:rPr b="0" i="0" lang="en-US" sz="900" u="none" cap="none" strike="noStrike">
                <a:solidFill>
                  <a:srgbClr val="7DD3AA"/>
                </a:solidFill>
                <a:latin typeface="Consolas"/>
                <a:ea typeface="Consolas"/>
                <a:cs typeface="Consolas"/>
                <a:sym typeface="Consolas"/>
              </a:rPr>
              <a:t>  --connection-name snow_adventure --model-name AdventureModel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AA"/>
              </a:buClr>
              <a:buSzPts val="750"/>
              <a:buFont typeface="Consolas"/>
              <a:buNone/>
            </a:pPr>
            <a:r>
              <a:rPr b="0" i="0" lang="en-US" sz="900" u="none" cap="none" strike="noStrike">
                <a:solidFill>
                  <a:srgbClr val="7DD3AA"/>
                </a:solidFill>
                <a:latin typeface="Consolas"/>
                <a:ea typeface="Consolas"/>
                <a:cs typeface="Consolas"/>
                <a:sym typeface="Consolas"/>
              </a:rPr>
              <a:t>  --output-dir ./demo/sml-output-live3</a:t>
            </a:r>
            <a:endParaRPr b="0" i="0" sz="750" u="none" cap="none" strike="noStrike">
              <a:solidFill>
                <a:schemeClr val="dk1"/>
              </a:solidFill>
              <a:latin typeface="Calibri"/>
              <a:ea typeface="Calibri"/>
              <a:cs typeface="Calibri"/>
              <a:sym typeface="Calibri"/>
            </a:endParaRPr>
          </a:p>
        </p:txBody>
      </p:sp>
      <p:sp>
        <p:nvSpPr>
          <p:cNvPr id="249" name="Google Shape;249;p7"/>
          <p:cNvSpPr/>
          <p:nvPr/>
        </p:nvSpPr>
        <p:spPr>
          <a:xfrm>
            <a:off x="274320" y="3209544"/>
            <a:ext cx="8595360" cy="667512"/>
          </a:xfrm>
          <a:prstGeom prst="rect">
            <a:avLst/>
          </a:prstGeom>
          <a:solidFill>
            <a:srgbClr val="162840"/>
          </a:solidFill>
          <a:ln cap="flat" cmpd="sng" w="19050">
            <a:solidFill>
              <a:srgbClr val="A855F7"/>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50" name="Google Shape;250;p7"/>
          <p:cNvSpPr/>
          <p:nvPr/>
        </p:nvSpPr>
        <p:spPr>
          <a:xfrm>
            <a:off x="274320" y="3209544"/>
            <a:ext cx="502920" cy="667512"/>
          </a:xfrm>
          <a:prstGeom prst="rect">
            <a:avLst/>
          </a:prstGeom>
          <a:solidFill>
            <a:srgbClr val="A855F7"/>
          </a:solidFill>
          <a:ln cap="flat" cmpd="sng" w="12700">
            <a:solidFill>
              <a:srgbClr val="A855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51" name="Google Shape;251;p7"/>
          <p:cNvSpPr/>
          <p:nvPr/>
        </p:nvSpPr>
        <p:spPr>
          <a:xfrm>
            <a:off x="274320" y="3209544"/>
            <a:ext cx="502920" cy="6675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3</a:t>
            </a:r>
            <a:endParaRPr b="0" i="0" sz="2000" u="none" cap="none" strike="noStrike">
              <a:solidFill>
                <a:schemeClr val="dk1"/>
              </a:solidFill>
              <a:latin typeface="Calibri"/>
              <a:ea typeface="Calibri"/>
              <a:cs typeface="Calibri"/>
              <a:sym typeface="Calibri"/>
            </a:endParaRPr>
          </a:p>
        </p:txBody>
      </p:sp>
      <p:sp>
        <p:nvSpPr>
          <p:cNvPr id="252" name="Google Shape;252;p7"/>
          <p:cNvSpPr/>
          <p:nvPr/>
        </p:nvSpPr>
        <p:spPr>
          <a:xfrm>
            <a:off x="896112" y="3264408"/>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55F7"/>
              </a:buClr>
              <a:buSzPts val="1100"/>
              <a:buFont typeface="Calibri"/>
              <a:buNone/>
            </a:pPr>
            <a:r>
              <a:rPr b="1" i="0" lang="en-US" sz="1300" u="none" cap="none" strike="noStrike">
                <a:solidFill>
                  <a:srgbClr val="A855F7"/>
                </a:solidFill>
                <a:latin typeface="Calibri"/>
                <a:ea typeface="Calibri"/>
                <a:cs typeface="Calibri"/>
                <a:sym typeface="Calibri"/>
              </a:rPr>
              <a:t>Score your model for high-value metrics</a:t>
            </a:r>
            <a:endParaRPr b="0" i="0" sz="1100" u="none" cap="none" strike="noStrike">
              <a:solidFill>
                <a:schemeClr val="dk1"/>
              </a:solidFill>
              <a:latin typeface="Calibri"/>
              <a:ea typeface="Calibri"/>
              <a:cs typeface="Calibri"/>
              <a:sym typeface="Calibri"/>
            </a:endParaRPr>
          </a:p>
        </p:txBody>
      </p:sp>
      <p:sp>
        <p:nvSpPr>
          <p:cNvPr id="253" name="Google Shape;253;p7"/>
          <p:cNvSpPr/>
          <p:nvPr/>
        </p:nvSpPr>
        <p:spPr>
          <a:xfrm>
            <a:off x="896112" y="3538728"/>
            <a:ext cx="3657600" cy="2834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A8C4"/>
              </a:buClr>
              <a:buSzPts val="900"/>
              <a:buFont typeface="Calibri"/>
              <a:buNone/>
            </a:pPr>
            <a:r>
              <a:rPr b="0" i="1" lang="en-US" sz="1000" u="none" cap="none" strike="noStrike">
                <a:solidFill>
                  <a:srgbClr val="8BA8C4"/>
                </a:solidFill>
                <a:latin typeface="Calibri"/>
                <a:ea typeface="Calibri"/>
                <a:cs typeface="Calibri"/>
                <a:sym typeface="Calibri"/>
              </a:rPr>
              <a:t>First extract the metric inventory from your SML output, then run the scoring engine to rank every metric-dimension pair.</a:t>
            </a:r>
            <a:endParaRPr b="0" i="0" sz="900" u="none" cap="none" strike="noStrike">
              <a:solidFill>
                <a:schemeClr val="dk1"/>
              </a:solidFill>
              <a:latin typeface="Calibri"/>
              <a:ea typeface="Calibri"/>
              <a:cs typeface="Calibri"/>
              <a:sym typeface="Calibri"/>
            </a:endParaRPr>
          </a:p>
        </p:txBody>
      </p:sp>
      <p:sp>
        <p:nvSpPr>
          <p:cNvPr id="254" name="Google Shape;254;p7"/>
          <p:cNvSpPr/>
          <p:nvPr/>
        </p:nvSpPr>
        <p:spPr>
          <a:xfrm>
            <a:off x="4663440" y="3282696"/>
            <a:ext cx="4069080" cy="521208"/>
          </a:xfrm>
          <a:prstGeom prst="rect">
            <a:avLst/>
          </a:prstGeom>
          <a:solidFill>
            <a:srgbClr val="080F1A"/>
          </a:solidFill>
          <a:ln cap="flat" cmpd="sng" w="12700">
            <a:solidFill>
              <a:srgbClr val="1A2E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55" name="Google Shape;255;p7"/>
          <p:cNvSpPr/>
          <p:nvPr/>
        </p:nvSpPr>
        <p:spPr>
          <a:xfrm>
            <a:off x="4773168" y="3282696"/>
            <a:ext cx="384048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4D8"/>
              </a:buClr>
              <a:buSzPts val="750"/>
              <a:buFont typeface="Consolas"/>
              <a:buNone/>
            </a:pPr>
            <a:r>
              <a:rPr b="1" i="0" lang="en-US" sz="900" u="none" cap="none" strike="noStrike">
                <a:solidFill>
                  <a:srgbClr val="00B4D8"/>
                </a:solidFill>
                <a:latin typeface="Consolas"/>
                <a:ea typeface="Consolas"/>
                <a:cs typeface="Consolas"/>
                <a:sym typeface="Consolas"/>
              </a:rPr>
              <a:t>$ </a:t>
            </a:r>
            <a:r>
              <a:rPr b="0" i="0" lang="en-US" sz="900" u="none" cap="none" strike="noStrike">
                <a:solidFill>
                  <a:srgbClr val="7DD3AA"/>
                </a:solidFill>
                <a:latin typeface="Consolas"/>
                <a:ea typeface="Consolas"/>
                <a:cs typeface="Consolas"/>
                <a:sym typeface="Consolas"/>
              </a:rPr>
              <a:t>./atscale-utils generate-metrics-from-model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AA"/>
              </a:buClr>
              <a:buSzPts val="750"/>
              <a:buFont typeface="Consolas"/>
              <a:buNone/>
            </a:pPr>
            <a:r>
              <a:rPr b="0" i="0" lang="en-US" sz="900" u="none" cap="none" strike="noStrike">
                <a:solidFill>
                  <a:srgbClr val="7DD3AA"/>
                </a:solidFill>
                <a:latin typeface="Consolas"/>
                <a:ea typeface="Consolas"/>
                <a:cs typeface="Consolas"/>
                <a:sym typeface="Consolas"/>
              </a:rPr>
              <a:t>  --model-file ./demo/extracted-model.yaml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AA"/>
              </a:buClr>
              <a:buSzPts val="750"/>
              <a:buFont typeface="Consolas"/>
              <a:buNone/>
            </a:pPr>
            <a:r>
              <a:rPr b="0" i="0" lang="en-US" sz="900" u="none" cap="none" strike="noStrike">
                <a:solidFill>
                  <a:srgbClr val="7DD3AA"/>
                </a:solidFill>
                <a:latin typeface="Consolas"/>
                <a:ea typeface="Consolas"/>
                <a:cs typeface="Consolas"/>
                <a:sym typeface="Consolas"/>
              </a:rPr>
              <a:t>  --output-file ./demo/metrics-output.yaml</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AA"/>
              </a:buClr>
              <a:buSzPts val="750"/>
              <a:buFont typeface="Consolas"/>
              <a:buNone/>
            </a:pPr>
            <a:r>
              <a:rPr b="0" i="0" lang="en-US" sz="900" u="none" cap="none" strike="noStrike">
                <a:solidFill>
                  <a:srgbClr val="7DD3AA"/>
                </a:solidFill>
                <a:latin typeface="Consolas"/>
                <a:ea typeface="Consolas"/>
                <a:cs typeface="Consolas"/>
                <a:sym typeface="Consolas"/>
              </a:rPr>
              <a:t/>
            </a:r>
            <a:endParaRPr b="0" i="0" sz="750" u="none" cap="none" strike="noStrike">
              <a:solidFill>
                <a:schemeClr val="dk1"/>
              </a:solidFill>
              <a:latin typeface="Calibri"/>
              <a:ea typeface="Calibri"/>
              <a:cs typeface="Calibri"/>
              <a:sym typeface="Calibri"/>
            </a:endParaRPr>
          </a:p>
        </p:txBody>
      </p:sp>
      <p:sp>
        <p:nvSpPr>
          <p:cNvPr id="256" name="Google Shape;256;p7"/>
          <p:cNvSpPr/>
          <p:nvPr/>
        </p:nvSpPr>
        <p:spPr>
          <a:xfrm>
            <a:off x="274320" y="3950208"/>
            <a:ext cx="8595360" cy="667512"/>
          </a:xfrm>
          <a:prstGeom prst="rect">
            <a:avLst/>
          </a:prstGeom>
          <a:solidFill>
            <a:srgbClr val="162840"/>
          </a:solidFill>
          <a:ln cap="flat" cmpd="sng" w="12700">
            <a:solidFill>
              <a:srgbClr val="1A2E44"/>
            </a:solidFill>
            <a:prstDash val="solid"/>
            <a:round/>
            <a:headEnd len="sm" w="sm" type="none"/>
            <a:tailEnd len="sm" w="sm" type="none"/>
          </a:ln>
          <a:effectLst>
            <a:outerShdw blurRad="101600" rotWithShape="0" algn="bl" dir="8100000" dist="381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57" name="Google Shape;257;p7"/>
          <p:cNvSpPr/>
          <p:nvPr/>
        </p:nvSpPr>
        <p:spPr>
          <a:xfrm>
            <a:off x="274320" y="3950208"/>
            <a:ext cx="502920" cy="667512"/>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58" name="Google Shape;258;p7"/>
          <p:cNvSpPr/>
          <p:nvPr/>
        </p:nvSpPr>
        <p:spPr>
          <a:xfrm>
            <a:off x="274320" y="3950208"/>
            <a:ext cx="502920" cy="6675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4</a:t>
            </a:r>
            <a:endParaRPr b="0" i="0" sz="2000" u="none" cap="none" strike="noStrike">
              <a:solidFill>
                <a:schemeClr val="dk1"/>
              </a:solidFill>
              <a:latin typeface="Calibri"/>
              <a:ea typeface="Calibri"/>
              <a:cs typeface="Calibri"/>
              <a:sym typeface="Calibri"/>
            </a:endParaRPr>
          </a:p>
        </p:txBody>
      </p:sp>
      <p:sp>
        <p:nvSpPr>
          <p:cNvPr id="259" name="Google Shape;259;p7"/>
          <p:cNvSpPr/>
          <p:nvPr/>
        </p:nvSpPr>
        <p:spPr>
          <a:xfrm>
            <a:off x="896112" y="4005072"/>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300" u="none" cap="none" strike="noStrike">
                <a:solidFill>
                  <a:srgbClr val="FFFFFF"/>
                </a:solidFill>
                <a:latin typeface="Calibri"/>
                <a:ea typeface="Calibri"/>
                <a:cs typeface="Calibri"/>
                <a:sym typeface="Calibri"/>
              </a:rPr>
              <a:t>Verify your schema with a quick SQL check</a:t>
            </a:r>
            <a:endParaRPr b="0" i="0" sz="1100" u="none" cap="none" strike="noStrike">
              <a:solidFill>
                <a:schemeClr val="dk1"/>
              </a:solidFill>
              <a:latin typeface="Calibri"/>
              <a:ea typeface="Calibri"/>
              <a:cs typeface="Calibri"/>
              <a:sym typeface="Calibri"/>
            </a:endParaRPr>
          </a:p>
        </p:txBody>
      </p:sp>
      <p:sp>
        <p:nvSpPr>
          <p:cNvPr id="260" name="Google Shape;260;p7"/>
          <p:cNvSpPr/>
          <p:nvPr/>
        </p:nvSpPr>
        <p:spPr>
          <a:xfrm>
            <a:off x="896112" y="4279392"/>
            <a:ext cx="3657600" cy="2834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A8C4"/>
              </a:buClr>
              <a:buSzPts val="900"/>
              <a:buFont typeface="Calibri"/>
              <a:buNone/>
            </a:pPr>
            <a:r>
              <a:rPr b="0" i="1" lang="en-US" sz="1000" u="none" cap="none" strike="noStrike">
                <a:solidFill>
                  <a:srgbClr val="8BA8C4"/>
                </a:solidFill>
                <a:latin typeface="Calibri"/>
                <a:ea typeface="Calibri"/>
                <a:cs typeface="Calibri"/>
                <a:sym typeface="Calibri"/>
              </a:rPr>
              <a:t>Run any .sql file against a registered connection to inspect or validate</a:t>
            </a:r>
            <a:endParaRPr b="0" i="0" sz="900" u="none" cap="none" strike="noStrike">
              <a:solidFill>
                <a:schemeClr val="dk1"/>
              </a:solidFill>
              <a:latin typeface="Calibri"/>
              <a:ea typeface="Calibri"/>
              <a:cs typeface="Calibri"/>
              <a:sym typeface="Calibri"/>
            </a:endParaRPr>
          </a:p>
        </p:txBody>
      </p:sp>
      <p:sp>
        <p:nvSpPr>
          <p:cNvPr id="261" name="Google Shape;261;p7"/>
          <p:cNvSpPr/>
          <p:nvPr/>
        </p:nvSpPr>
        <p:spPr>
          <a:xfrm>
            <a:off x="4663440" y="4023360"/>
            <a:ext cx="4069080" cy="521208"/>
          </a:xfrm>
          <a:prstGeom prst="rect">
            <a:avLst/>
          </a:prstGeom>
          <a:solidFill>
            <a:srgbClr val="080F1A"/>
          </a:solidFill>
          <a:ln cap="flat" cmpd="sng" w="12700">
            <a:solidFill>
              <a:srgbClr val="1A2E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62" name="Google Shape;262;p7"/>
          <p:cNvSpPr/>
          <p:nvPr/>
        </p:nvSpPr>
        <p:spPr>
          <a:xfrm>
            <a:off x="4773168" y="4023360"/>
            <a:ext cx="3840480" cy="5212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4D8"/>
              </a:buClr>
              <a:buSzPts val="750"/>
              <a:buFont typeface="Consolas"/>
              <a:buNone/>
            </a:pPr>
            <a:r>
              <a:rPr b="1" i="0" lang="en-US" sz="900" u="none" cap="none" strike="noStrike">
                <a:solidFill>
                  <a:srgbClr val="00B4D8"/>
                </a:solidFill>
                <a:latin typeface="Consolas"/>
                <a:ea typeface="Consolas"/>
                <a:cs typeface="Consolas"/>
                <a:sym typeface="Consolas"/>
              </a:rPr>
              <a:t>$ </a:t>
            </a:r>
            <a:r>
              <a:rPr b="0" i="0" lang="en-US" sz="900" u="none" cap="none" strike="noStrike">
                <a:solidFill>
                  <a:srgbClr val="7DD3AA"/>
                </a:solidFill>
                <a:latin typeface="Consolas"/>
                <a:ea typeface="Consolas"/>
                <a:cs typeface="Consolas"/>
                <a:sym typeface="Consolas"/>
              </a:rPr>
              <a:t>./atscale-utils execute-sql-on-connection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AA"/>
              </a:buClr>
              <a:buSzPts val="750"/>
              <a:buFont typeface="Consolas"/>
              <a:buNone/>
            </a:pPr>
            <a:r>
              <a:rPr b="0" i="0" lang="en-US" sz="900" u="none" cap="none" strike="noStrike">
                <a:solidFill>
                  <a:srgbClr val="7DD3AA"/>
                </a:solidFill>
                <a:latin typeface="Consolas"/>
                <a:ea typeface="Consolas"/>
                <a:cs typeface="Consolas"/>
                <a:sym typeface="Consolas"/>
              </a:rPr>
              <a:t>  --sql-file ./demo/validation.sql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AA"/>
              </a:buClr>
              <a:buSzPts val="750"/>
              <a:buFont typeface="Consolas"/>
              <a:buNone/>
            </a:pPr>
            <a:r>
              <a:rPr b="0" i="0" lang="en-US" sz="900" u="none" cap="none" strike="noStrike">
                <a:solidFill>
                  <a:srgbClr val="7DD3AA"/>
                </a:solidFill>
                <a:latin typeface="Consolas"/>
                <a:ea typeface="Consolas"/>
                <a:cs typeface="Consolas"/>
                <a:sym typeface="Consolas"/>
              </a:rPr>
              <a:t>  --connection-file ./connections.yaml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AA"/>
              </a:buClr>
              <a:buSzPts val="750"/>
              <a:buFont typeface="Consolas"/>
              <a:buNone/>
            </a:pPr>
            <a:r>
              <a:rPr b="0" i="0" lang="en-US" sz="900" u="none" cap="none" strike="noStrike">
                <a:solidFill>
                  <a:srgbClr val="7DD3AA"/>
                </a:solidFill>
                <a:latin typeface="Consolas"/>
                <a:ea typeface="Consolas"/>
                <a:cs typeface="Consolas"/>
                <a:sym typeface="Consolas"/>
              </a:rPr>
              <a:t>  --connection-name snow_adventure</a:t>
            </a:r>
            <a:endParaRPr b="0" i="0" sz="750" u="none" cap="none" strike="noStrike">
              <a:solidFill>
                <a:schemeClr val="dk1"/>
              </a:solidFill>
              <a:latin typeface="Calibri"/>
              <a:ea typeface="Calibri"/>
              <a:cs typeface="Calibri"/>
              <a:sym typeface="Calibri"/>
            </a:endParaRPr>
          </a:p>
        </p:txBody>
      </p:sp>
      <p:sp>
        <p:nvSpPr>
          <p:cNvPr id="263" name="Google Shape;263;p7"/>
          <p:cNvSpPr/>
          <p:nvPr/>
        </p:nvSpPr>
        <p:spPr>
          <a:xfrm>
            <a:off x="0" y="4892040"/>
            <a:ext cx="9144000" cy="251460"/>
          </a:xfrm>
          <a:prstGeom prst="rect">
            <a:avLst/>
          </a:prstGeom>
          <a:solidFill>
            <a:srgbClr val="132D4F"/>
          </a:solidFill>
          <a:ln cap="flat" cmpd="sng" w="12700">
            <a:solidFill>
              <a:srgbClr val="132D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a:t/>
            </a:r>
            <a:endParaRPr/>
          </a:p>
        </p:txBody>
      </p:sp>
      <p:sp>
        <p:nvSpPr>
          <p:cNvPr id="264" name="Google Shape;264;p7"/>
          <p:cNvSpPr/>
          <p:nvPr/>
        </p:nvSpPr>
        <p:spPr>
          <a:xfrm>
            <a:off x="1645920" y="4892040"/>
            <a:ext cx="7315200" cy="2514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A8C4"/>
              </a:buClr>
              <a:buSzPts val="750"/>
              <a:buFont typeface="Calibri"/>
              <a:buNone/>
            </a:pPr>
            <a:r>
              <a:rPr b="0" i="0" lang="en-US" sz="900" u="none" cap="none" strike="noStrike">
                <a:solidFill>
                  <a:srgbClr val="8BA8C4"/>
                </a:solidFill>
                <a:latin typeface="Calibri"/>
                <a:ea typeface="Calibri"/>
                <a:cs typeface="Calibri"/>
                <a:sym typeface="Calibri"/>
              </a:rPr>
              <a:t>PS Template Workflow Tutorials  ·  Track 2 of 4</a:t>
            </a:r>
            <a:endParaRPr b="0" i="0" sz="750" u="none" cap="none" strike="noStrike">
              <a:solidFill>
                <a:schemeClr val="dk1"/>
              </a:solidFill>
              <a:latin typeface="Calibri"/>
              <a:ea typeface="Calibri"/>
              <a:cs typeface="Calibri"/>
              <a:sym typeface="Calibri"/>
            </a:endParaRPr>
          </a:p>
        </p:txBody>
      </p:sp>
      <p:pic>
        <p:nvPicPr>
          <p:cNvPr descr="/tmp/atscale_logo.svg" id="265" name="Google Shape;265;p7"/>
          <p:cNvPicPr preferRelativeResize="0"/>
          <p:nvPr/>
        </p:nvPicPr>
        <p:blipFill rotWithShape="1">
          <a:blip r:embed="rId3">
            <a:alphaModFix/>
          </a:blip>
          <a:srcRect b="0" l="0" r="0" t="0"/>
          <a:stretch/>
        </p:blipFill>
        <p:spPr>
          <a:xfrm>
            <a:off x="228600" y="4924044"/>
            <a:ext cx="1188717" cy="155448"/>
          </a:xfrm>
          <a:prstGeom prst="rect">
            <a:avLst/>
          </a:prstGeom>
          <a:noFill/>
          <a:ln>
            <a:no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972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033772"/>
            <a:ext cx="9144000" cy="10972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201168"/>
            <a:ext cx="2011680" cy="347472"/>
          </a:xfrm>
          <a:prstGeom prst="rect">
            <a:avLst/>
          </a:prstGeom>
          <a:solidFill>
            <a:srgbClr val="1628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900" b="1">
                <a:solidFill>
                  <a:srgbClr val="00B4D8"/>
                </a:solidFill>
              </a:rPr>
              <a:t>SML CREATION &amp; MANIPULATION</a:t>
            </a:r>
          </a:p>
        </p:txBody>
      </p:sp>
      <p:sp>
        <p:nvSpPr>
          <p:cNvPr id="6" name="Rectangle 5"/>
          <p:cNvSpPr/>
          <p:nvPr/>
        </p:nvSpPr>
        <p:spPr>
          <a:xfrm>
            <a:off x="2743200" y="2606040"/>
            <a:ext cx="36576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1234440"/>
            <a:ext cx="6400800" cy="1280160"/>
          </a:xfrm>
          <a:prstGeom prst="rect">
            <a:avLst/>
          </a:prstGeom>
          <a:noFill/>
        </p:spPr>
        <p:txBody>
          <a:bodyPr wrap="none">
            <a:spAutoFit/>
          </a:bodyPr>
          <a:lstStyle/>
          <a:p>
            <a:pPr algn="ctr"/>
            <a:r>
              <a:rPr sz="7200" b="1" i="0">
                <a:solidFill>
                  <a:srgbClr val="FFFFFF"/>
                </a:solidFill>
              </a:rPr>
              <a:t>Thank You</a:t>
            </a:r>
          </a:p>
        </p:txBody>
      </p:sp>
      <p:sp>
        <p:nvSpPr>
          <p:cNvPr id="8" name="TextBox 7"/>
          <p:cNvSpPr txBox="1"/>
          <p:nvPr/>
        </p:nvSpPr>
        <p:spPr>
          <a:xfrm>
            <a:off x="1371600" y="2788920"/>
            <a:ext cx="6400800" cy="548640"/>
          </a:xfrm>
          <a:prstGeom prst="rect">
            <a:avLst/>
          </a:prstGeom>
          <a:noFill/>
        </p:spPr>
        <p:txBody>
          <a:bodyPr wrap="none">
            <a:spAutoFit/>
          </a:bodyPr>
          <a:lstStyle/>
          <a:p>
            <a:pPr algn="ctr"/>
            <a:r>
              <a:rPr sz="1800" b="0" i="0">
                <a:solidFill>
                  <a:srgbClr val="00B4D8"/>
                </a:solidFill>
              </a:rPr>
              <a:t>Questions? Let's talk.</a:t>
            </a:r>
          </a:p>
        </p:txBody>
      </p:sp>
      <p:sp>
        <p:nvSpPr>
          <p:cNvPr id="9" name="TextBox 8"/>
          <p:cNvSpPr txBox="1"/>
          <p:nvPr/>
        </p:nvSpPr>
        <p:spPr>
          <a:xfrm>
            <a:off x="228600" y="4663440"/>
            <a:ext cx="1645920" cy="365760"/>
          </a:xfrm>
          <a:prstGeom prst="rect">
            <a:avLst/>
          </a:prstGeom>
          <a:noFill/>
        </p:spPr>
        <p:txBody>
          <a:bodyPr wrap="none">
            <a:spAutoFit/>
          </a:bodyPr>
          <a:lstStyle/>
          <a:p>
            <a:pPr algn="l"/>
            <a:r>
              <a:rPr sz="1600" b="1" i="0">
                <a:solidFill>
                  <a:srgbClr val="FFFFFF"/>
                </a:solidFill>
              </a:rPr>
              <a:t>AtScale</a:t>
            </a:r>
          </a:p>
        </p:txBody>
      </p:sp>
      <p:sp>
        <p:nvSpPr>
          <p:cNvPr id="10" name="TextBox 9"/>
          <p:cNvSpPr txBox="1"/>
          <p:nvPr/>
        </p:nvSpPr>
        <p:spPr>
          <a:xfrm>
            <a:off x="5029200" y="4663440"/>
            <a:ext cx="3886200" cy="365760"/>
          </a:xfrm>
          <a:prstGeom prst="rect">
            <a:avLst/>
          </a:prstGeom>
          <a:noFill/>
        </p:spPr>
        <p:txBody>
          <a:bodyPr wrap="none">
            <a:spAutoFit/>
          </a:bodyPr>
          <a:lstStyle/>
          <a:p>
            <a:pPr algn="r"/>
            <a:r>
              <a:rPr sz="1000" b="0" i="0">
                <a:solidFill>
                  <a:srgbClr val="6B7A8D"/>
                </a:solidFill>
              </a:rPr>
              <a:t>@atscale/ps-utils  |  Professional Services</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